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7" r:id="rId4"/>
    <p:sldId id="264" r:id="rId5"/>
    <p:sldId id="260" r:id="rId6"/>
    <p:sldId id="268" r:id="rId7"/>
    <p:sldId id="257" r:id="rId8"/>
    <p:sldId id="258" r:id="rId9"/>
    <p:sldId id="261" r:id="rId10"/>
    <p:sldId id="262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.png"/><Relationship Id="rId7" Type="http://schemas.openxmlformats.org/officeDocument/2006/relationships/hyperlink" Target="https://www.amazon.com/dp/B0BKJVXWTM" TargetMode="External"/><Relationship Id="rId6" Type="http://schemas.openxmlformats.org/officeDocument/2006/relationships/hyperlink" Target="https://www.coupang.com/vp/products/9588829593?itemId=28601190716&amp;vendorItemId=95555475605&amp;sourceType=CATEGORY&amp;categoryId=564927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us.shein.com/Manfinity-UrbanChill-Men-Flap-Pocket-Vest-Without-Tee,-Going-Out-Casual-Jogger-Vest-p-16498689-cat-6277.html" TargetMode="External"/><Relationship Id="rId3" Type="http://schemas.openxmlformats.org/officeDocument/2006/relationships/hyperlink" Target="https://www.amazon.se/dp/B083Z162Y6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hyperlink" Target="https://www.amazon.ae/dp/B0CNBTTYLC?th=1&amp;psc=1" TargetMode="External"/><Relationship Id="rId6" Type="http://schemas.openxmlformats.org/officeDocument/2006/relationships/hyperlink" Target="https://www.amazon.de/dp/B0FR2TDYBS?th=1&amp;psc=1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www.amazon.fr/dp/B0CG6LG9KT" TargetMode="External"/><Relationship Id="rId3" Type="http://schemas.openxmlformats.org/officeDocument/2006/relationships/image" Target="../media/image7.png"/><Relationship Id="rId2" Type="http://schemas.openxmlformats.org/officeDocument/2006/relationships/hyperlink" Target="https://pt.aliexpress.com/item/1005007410714609.html" TargetMode="Externa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hyperlink" Target="https://us.shein.com/Men-s-Jacket-Court-Style-3D-Printed-Baseball-Jacket-Single-Breasted-Jacket-p-438939790.html" TargetMode="External"/><Relationship Id="rId8" Type="http://schemas.openxmlformats.org/officeDocument/2006/relationships/tags" Target="../tags/tag1.xml"/><Relationship Id="rId7" Type="http://schemas.openxmlformats.org/officeDocument/2006/relationships/hyperlink" Target="https://es.aliexpress.com/item/1005006745637828.html" TargetMode="Externa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us.shein.com/PAVTROS-Manfinity-Streetrush-Men's-Street-Fashion-Red-Zip-Up-Jacket,-Statue-Of-Liberty-Jacket-Jazz-Graphic-Jacket-Red-Corduroy-Jacket-Music-Graphic-Zip-Up-Red-Graphic-Jacket-Y2k-Jacket-Varsity-Jacket,-Fall-Winter-p-161766266-cat-1983.html" TargetMode="External"/><Relationship Id="rId3" Type="http://schemas.openxmlformats.org/officeDocument/2006/relationships/image" Target="../media/image11.png"/><Relationship Id="rId2" Type="http://schemas.openxmlformats.org/officeDocument/2006/relationships/hyperlink" Target="https://us.shein.com/Sport-MetroGents-Men's-Minimalist-Printed-Zip-Up-Long-Sleeve-Sports-Jacket-p-380324682.html" TargetMode="Externa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us.shein.com/Manfinity-ZONE917-Men's-Letter-Print-Long-Sleeve-Zip-Front-Casual-Jacket-Track-Jacket-Cropped-Jacket-Men-Mens-Zip-Up-Jacket-p-134785727-cat-1983.html" TargetMode="External"/><Relationship Id="rId7" Type="http://schemas.openxmlformats.org/officeDocument/2006/relationships/image" Target="../media/image16.png"/><Relationship Id="rId6" Type="http://schemas.openxmlformats.org/officeDocument/2006/relationships/hyperlink" Target="https://www.aliexpress.com/item/1005009011963657.html" TargetMode="External"/><Relationship Id="rId5" Type="http://schemas.openxmlformats.org/officeDocument/2006/relationships/tags" Target="../tags/tag3.xml"/><Relationship Id="rId4" Type="http://schemas.openxmlformats.org/officeDocument/2006/relationships/image" Target="../media/image15.png"/><Relationship Id="rId3" Type="http://schemas.openxmlformats.org/officeDocument/2006/relationships/hyperlink" Target="https://www.shein.co.uk/Herren-Kapuzenjacke-mit-Farbbl%C3%B6cken,-Rei%C3%9Fverschluss-und-Stickerei,-l%C3%A4ssige-Streetwear-Sportjacke-p-317127452-cat-1983.html" TargetMode="External"/><Relationship Id="rId2" Type="http://schemas.openxmlformats.org/officeDocument/2006/relationships/tags" Target="../tags/tag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hyperlink" Target="https://peterglenn.com/helly-hansen-crew-softshell-jacket-men-s/" TargetMode="External"/><Relationship Id="rId6" Type="http://schemas.openxmlformats.org/officeDocument/2006/relationships/tags" Target="../tags/tag4.xml"/><Relationship Id="rId5" Type="http://schemas.openxmlformats.org/officeDocument/2006/relationships/hyperlink" Target="https://www.amazon.com/dp/B0CKLPHZGV?th=1&amp;psc=1" TargetMode="External"/><Relationship Id="rId4" Type="http://schemas.openxmlformats.org/officeDocument/2006/relationships/image" Target="../media/image18.png"/><Relationship Id="rId3" Type="http://schemas.openxmlformats.org/officeDocument/2006/relationships/hyperlink" Target="https://www.shein.co.uk/Manfinity-Hypemode-Men's-Loose-Fit-Hooded-Quilted-Jacket-With-Letter-Print,-Going-Out-Casual-Bubble-Coat-Letter-Winter-Coat-p-26245613-cat-3138.html" TargetMode="External"/><Relationship Id="rId2" Type="http://schemas.openxmlformats.org/officeDocument/2006/relationships/image" Target="../media/image17.png"/><Relationship Id="rId10" Type="http://schemas.openxmlformats.org/officeDocument/2006/relationships/slideLayout" Target="../slideLayouts/slideLayout2.xml"/><Relationship Id="rId1" Type="http://schemas.openxmlformats.org/officeDocument/2006/relationships/hyperlink" Target="https://www.amazon.es/dp/B09T3F5NPP" TargetMode="Externa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www.amazon.es/dp/B079RKKN2L" TargetMode="External"/><Relationship Id="rId4" Type="http://schemas.openxmlformats.org/officeDocument/2006/relationships/image" Target="../media/image22.png"/><Relationship Id="rId3" Type="http://schemas.openxmlformats.org/officeDocument/2006/relationships/hyperlink" Target="https://www.amazon.es/dp/B094NZ6C19" TargetMode="External"/><Relationship Id="rId2" Type="http://schemas.openxmlformats.org/officeDocument/2006/relationships/hyperlink" Target="https://www.amazon.es/dp/B07HF1Z1VK" TargetMode="Externa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6" Type="http://schemas.openxmlformats.org/officeDocument/2006/relationships/hyperlink" Target="https://www.amazon.ie/Helly-Hansen-Mens-Rigging-Coat/dp/B083MT6ZCP?th=1&amp;psc=1" TargetMode="External"/><Relationship Id="rId5" Type="http://schemas.openxmlformats.org/officeDocument/2006/relationships/tags" Target="../tags/tag5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hyperlink" Target="https://www.aliexpress.com/item/1005010456943986.html" TargetMode="External"/><Relationship Id="rId1" Type="http://schemas.openxmlformats.org/officeDocument/2006/relationships/hyperlink" Target="https://www.amazon.es/dp/B08Z84VB91" TargetMode="Externa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www.amazon.com/dp/B000BB7W4U?th=1&amp;psc=1" TargetMode="External"/><Relationship Id="rId7" Type="http://schemas.openxmlformats.org/officeDocument/2006/relationships/image" Target="../media/image30.png"/><Relationship Id="rId6" Type="http://schemas.openxmlformats.org/officeDocument/2006/relationships/hyperlink" Target="https://www.amazon.de/dp/B00BRT2NFI?th=1&amp;psc=1" TargetMode="External"/><Relationship Id="rId5" Type="http://schemas.openxmlformats.org/officeDocument/2006/relationships/image" Target="../media/image29.png"/><Relationship Id="rId4" Type="http://schemas.openxmlformats.org/officeDocument/2006/relationships/hyperlink" Target="https://www.amazon.es/dp/B0B43296NV?th=1&amp;psc=1" TargetMode="External"/><Relationship Id="rId3" Type="http://schemas.openxmlformats.org/officeDocument/2006/relationships/image" Target="../media/image28.png"/><Relationship Id="rId2" Type="http://schemas.openxmlformats.org/officeDocument/2006/relationships/hyperlink" Target="https://es.aliexpress.com/item/1005008720752734.html" TargetMode="Externa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pt.aliexpress.com/item/1005005062652749.html" TargetMode="External"/><Relationship Id="rId7" Type="http://schemas.openxmlformats.org/officeDocument/2006/relationships/image" Target="../media/image34.png"/><Relationship Id="rId6" Type="http://schemas.openxmlformats.org/officeDocument/2006/relationships/hyperlink" Target="https://jp.shein.com/DAZY-Men's-Casual-Solid-Color-Zip-Up-Stand-Collar-Jacket,-Fashion-Street-Style,-Autumn-p-163543679-cat-1983.html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hyperlink" Target="https://us.shein.com/PAVTROS-Men's-Contrast-Color-Half-Zip-Stand-Collar-Casual-Fashion-Patchwork-Pullover-Jacket-Football-p-453743472-cat-1983.html" TargetMode="External"/><Relationship Id="rId2" Type="http://schemas.openxmlformats.org/officeDocument/2006/relationships/hyperlink" Target="https://us.shein.com/PAVTROS-Men's-Casual-Fashionable-Street-Wear-Contrast-Color-Letter-Print-Half-Zip-Stand-Collar-Jacket,-Suitable-For-Spring-And-Autumn-p-415041317-cat-1983.html" TargetMode="External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www.zalando.nl/yourturn-unisex-mantel-brown-yo12101gd-o11.html" TargetMode="External"/><Relationship Id="rId5" Type="http://schemas.openxmlformats.org/officeDocument/2006/relationships/image" Target="../media/image37.png"/><Relationship Id="rId4" Type="http://schemas.openxmlformats.org/officeDocument/2006/relationships/hyperlink" Target="https://es.aliexpress.com/item/1005007203754997.html" TargetMode="External"/><Relationship Id="rId3" Type="http://schemas.openxmlformats.org/officeDocument/2006/relationships/hyperlink" Target="https://www.shein.co.uk/Manfinity-CasualCool-Men's-Solid-Color-Pocket---Button-Front-Long-Sleeve-Overcoat,-Autumn-Fall-Going-Out-Overcoat,-For-Friends,-Husband,-Boyfriend-Gifts-p-194431951-cat-3137.html" TargetMode="Externa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13690"/>
            <a:ext cx="12192000" cy="622998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8</a:t>
            </a:r>
            <a:r>
              <a:rPr lang="zh-CN" altLang="en-US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月</a:t>
            </a:r>
            <a: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BSR</a:t>
            </a:r>
            <a:r>
              <a:rPr lang="zh-CN" altLang="en-US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开款</a:t>
            </a:r>
            <a:b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以下款式有</a:t>
            </a:r>
            <a:r>
              <a:rPr lang="en-US" altLang="zh-CN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BSR</a:t>
            </a:r>
            <a:r>
              <a:rPr lang="zh-CN" altLang="en-US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标签 买手绑定后</a:t>
            </a:r>
            <a:br>
              <a:rPr lang="en-US" altLang="zh-CN" sz="6000" dirty="0">
                <a:solidFill>
                  <a:srgbClr val="FF0000"/>
                </a:solidFill>
              </a:rPr>
            </a:br>
            <a:r>
              <a:rPr lang="zh-CN" altLang="en-US" sz="6000" dirty="0">
                <a:solidFill>
                  <a:srgbClr val="FF0000"/>
                </a:solidFill>
              </a:rPr>
              <a:t>可享</a:t>
            </a:r>
            <a:r>
              <a:rPr lang="zh-CN" altLang="en-US" sz="6000" i="1" dirty="0">
                <a:solidFill>
                  <a:srgbClr val="FF0000"/>
                </a:solidFill>
              </a:rPr>
              <a:t>搜推提权</a:t>
            </a:r>
            <a:r>
              <a:rPr lang="en-US" altLang="zh-CN" sz="6000" i="1" dirty="0">
                <a:solidFill>
                  <a:srgbClr val="FF0000"/>
                </a:solidFill>
              </a:rPr>
              <a:t>——</a:t>
            </a:r>
            <a:r>
              <a:rPr lang="zh-CN" altLang="en-US" sz="6000" i="1" dirty="0">
                <a:solidFill>
                  <a:srgbClr val="FF0000"/>
                </a:solidFill>
              </a:rPr>
              <a:t>额外流量</a:t>
            </a:r>
            <a:br>
              <a:rPr lang="en-US" altLang="zh-CN" sz="6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br>
              <a:rPr lang="en-US" altLang="zh-CN" sz="6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男装单马甲</a:t>
            </a:r>
            <a:b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lang="zh-CN" altLang="en-US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19245" y="1099820"/>
            <a:ext cx="3740150" cy="5568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41320" y="39306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对接买手：游无垠</a:t>
            </a:r>
            <a:endParaRPr lang="zh-CN" altLang="en-US" sz="4000" dirty="0">
              <a:solidFill>
                <a:srgbClr val="FF0000"/>
              </a:solidFill>
              <a:latin typeface="华文宋体" panose="02010600040101010101" pitchFamily="2" charset="-122"/>
              <a:ea typeface="华文宋体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75626" y="324567"/>
            <a:ext cx="3918231" cy="916404"/>
          </a:xfrm>
        </p:spPr>
        <p:txBody>
          <a:bodyPr>
            <a:noAutofit/>
          </a:bodyPr>
          <a:lstStyle/>
          <a:p>
            <a:pPr algn="ctr"/>
            <a:r>
              <a:rPr lang="zh-CN" altLang="en-US" sz="4900" b="1" i="0" dirty="0">
                <a:solidFill>
                  <a:srgbClr val="11111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上款路径指引</a:t>
            </a:r>
            <a:endParaRPr lang="zh-CN" altLang="en-US" sz="49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" y="1575699"/>
            <a:ext cx="12191999" cy="416325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27011/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男士时尚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30327/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男装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30328/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男士外套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30382/</a:t>
            </a:r>
            <a:r>
              <a:rPr lang="zh-CN" altLang="en-US" b="1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男装单马甲 </a:t>
            </a:r>
            <a:r>
              <a:rPr lang="en-US" altLang="zh-CN" b="1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30407</a:t>
            </a:r>
            <a:endParaRPr lang="en-US" altLang="zh-CN" b="1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endParaRPr lang="en-US" altLang="zh-CN" b="1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</a:t>
            </a:r>
            <a:r>
              <a:rPr lang="en-US" altLang="zh-CN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27011/</a:t>
            </a: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男士时尚</a:t>
            </a:r>
            <a:r>
              <a:rPr lang="en-US" altLang="zh-CN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30327/</a:t>
            </a: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男装</a:t>
            </a:r>
            <a:r>
              <a:rPr lang="en-US" altLang="zh-CN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30328/</a:t>
            </a: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男士休闲运动服</a:t>
            </a:r>
            <a:r>
              <a:rPr lang="en-US" altLang="zh-CN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30416/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30435</a:t>
            </a:r>
            <a:endParaRPr lang="zh-CN" altLang="en-US" b="1" dirty="0">
              <a:solidFill>
                <a:schemeClr val="tx1"/>
              </a:solidFill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endParaRPr lang="en-US" altLang="zh-CN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27011/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男士时尚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30327/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男装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30328/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男士外套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30382/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男士风衣、雨衣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30398/</a:t>
            </a:r>
            <a:r>
              <a:rPr lang="zh-CN" altLang="en-US" b="1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r>
              <a:rPr lang="en-US" altLang="zh-CN" b="1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30400</a:t>
            </a:r>
            <a:endParaRPr lang="en-US" altLang="zh-CN" b="1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endParaRPr lang="en-US" altLang="zh-CN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0842" y="5525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男士单马甲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日常搭配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512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2" y="1616286"/>
            <a:ext cx="3294514" cy="439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69" y="1503804"/>
            <a:ext cx="2558998" cy="435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439594" y="6109594"/>
          <a:ext cx="1072148" cy="535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2148"/>
              </a:tblGrid>
              <a:tr h="53510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3"/>
                        </a:rPr>
                        <a:t>https://www.amazon.se/dp/B083Z162Y6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17181" y="6037106"/>
          <a:ext cx="2899329" cy="680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9329"/>
              </a:tblGrid>
              <a:tr h="279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4"/>
                        </a:rPr>
                        <a:t>https://us.shein.com/Manfinity-UrbanChill-Men-Flap-Pocket-Vest-Without-Tee,-Going-Out-Casual-Jogger-Vest-p-16498689-cat-6277.html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538" y="2106069"/>
            <a:ext cx="3006876" cy="300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77051" y="5689743"/>
          <a:ext cx="1893850" cy="1015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3850"/>
              </a:tblGrid>
              <a:tr h="9294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https://www.coupang.com/vp/products/9588829593?itemId=28601190716&amp;vendorItemId=95555475605&amp;sourceType=CATEGORY&amp;categoryId=564927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0139316" y="5499994"/>
          <a:ext cx="667004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1219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7"/>
                        </a:rPr>
                        <a:t>https://www.amazon.com/dp/B0BKJVXWTM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464" y="1732688"/>
            <a:ext cx="1855341" cy="339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95101" y="51952"/>
            <a:ext cx="8596312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男士单马甲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保暖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5128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50" y="2117046"/>
            <a:ext cx="2707503" cy="270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43963" y="5444349"/>
          <a:ext cx="1383815" cy="544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3815"/>
              </a:tblGrid>
              <a:tr h="5447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https://pt.aliexpress.com/item/1005007410714609.html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744" y="1839981"/>
            <a:ext cx="3049027" cy="30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03595" y="5401489"/>
          <a:ext cx="667004" cy="847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6584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4"/>
                        </a:rPr>
                        <a:t>https://www.amazon.fr/dp/B0CG6LG9KT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687" y="1862607"/>
            <a:ext cx="2811441" cy="30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544905" y="5401489"/>
          <a:ext cx="667004" cy="1015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7372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https://www.amazon.de/dp/B0FR2TDYBS?th=1&amp;psc=1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0343886" y="5401489"/>
          <a:ext cx="667004" cy="1289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12890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7"/>
                        </a:rPr>
                        <a:t>https://www.amazon.ae/dp/B0CNBTTYLC?th=1&amp;psc=1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9300" y="1040765"/>
            <a:ext cx="2110740" cy="4048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-1"/>
            <a:ext cx="8596668" cy="1654629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街头风格</a:t>
            </a:r>
            <a:endParaRPr lang="zh-CN" altLang="en-US" sz="5400" dirty="0">
              <a:highlight>
                <a:srgbClr val="FFFF00"/>
              </a:highligh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927839"/>
            <a:ext cx="2852292" cy="37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02" y="6140312"/>
          <a:ext cx="2911197" cy="512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1197"/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https://us.shein.com/Sport-MetroGents-Men's-Minimalist-Printed-Zip-Up-Long-Sleeve-Sports-Jacket-p-380324682.html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399" y="1927841"/>
            <a:ext cx="2852292" cy="377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18629" y="5990902"/>
          <a:ext cx="3077371" cy="682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7371"/>
              </a:tblGrid>
              <a:tr h="682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 dirty="0">
                          <a:effectLst/>
                          <a:hlinkClick r:id="rId4"/>
                        </a:rPr>
                        <a:t>https://us.shein.com/PAVTROS-Manfinity-Streetrush-Men's-Street-Fashion-Red-Zip-Up-Jacket,-Statue-Of-Liberty-Jacket-Jazz-Graphic-Jacket-Red-Corduroy-Jacket-Music-Graphic-Zip-Up-Red-Graphic-Jacket-Y2k-Jacket-Varsity-Jacket,-Fall-Winter-p-161766266-cat-1983.html</a:t>
                      </a:r>
                      <a:endParaRPr lang="en-US" sz="7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95" marR="5795" marT="5795" marB="0" anchor="ctr"/>
                </a:tc>
              </a:tr>
            </a:tbl>
          </a:graphicData>
        </a:graphic>
      </p:graphicFrame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797" y="1927839"/>
            <a:ext cx="2896689" cy="3835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195" y="2285273"/>
            <a:ext cx="3279887" cy="327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9002213" y="5990902"/>
          <a:ext cx="2554061" cy="4471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4061"/>
              </a:tblGrid>
              <a:tr h="4471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7"/>
                        </a:rPr>
                        <a:t>https://es.aliexpress.com/item/1005006745637828.html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8"/>
            </p:custDataLst>
          </p:nvPr>
        </p:nvGraphicFramePr>
        <p:xfrm>
          <a:off x="6164580" y="5850255"/>
          <a:ext cx="2837815" cy="841375"/>
        </p:xfrm>
        <a:graphic>
          <a:graphicData uri="http://schemas.openxmlformats.org/drawingml/2006/table">
            <a:tbl>
              <a:tblPr/>
              <a:tblGrid>
                <a:gridCol w="2837815"/>
              </a:tblGrid>
              <a:tr h="84137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https://us.shein.com/Men-s-Jacket-Court-Style-3D-Printed-Baseball-Jacket-Single-Breasted-Jacket-p-438939790.html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地名</a:t>
            </a:r>
            <a:endParaRPr lang="zh-CN" altLang="en-US" sz="5400" dirty="0"/>
          </a:p>
        </p:txBody>
      </p:sp>
      <p:pic>
        <p:nvPicPr>
          <p:cNvPr id="3073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" y="1738630"/>
            <a:ext cx="3228340" cy="430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24485" y="6155690"/>
          <a:ext cx="3391535" cy="702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1535"/>
              </a:tblGrid>
              <a:tr h="7023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3"/>
                        </a:rPr>
                        <a:t>https://www.shein.co.uk/Herren-Kapuzenjacke-mit-Farbbl%C3%B6cken,-Rei%C3%9Fverschluss-und-Stickerei,-l%C3%A4ssige-Streetwear-Sportjacke-p-317127452-cat-1983.html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020" y="1738630"/>
            <a:ext cx="4592955" cy="459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130800" y="6043295"/>
          <a:ext cx="1930400" cy="61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400"/>
              </a:tblGrid>
              <a:tr h="6146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https://www.aliexpress.com/item/1005009011963657.html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377" y="1738788"/>
            <a:ext cx="2913051" cy="389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790377" y="5912558"/>
          <a:ext cx="2590165" cy="87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0165"/>
              </a:tblGrid>
              <a:tr h="876300">
                <a:tc>
                  <a:txBody>
                    <a:bodyPr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8"/>
                        </a:rPr>
                        <a:t>https://us.shein.com/Manfinity-ZONE917-Men's-Letter-Print-Long-Sleeve-Zip-Front-Casual-Jacket-Track-Jacket-Cropped-Jacket-Men-Mens-Zip-Up-Jacket-p-134785727-cat-1983.html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167" marR="9167" marT="9167" marB="0" anchor="ctr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697595" y="893445"/>
            <a:ext cx="4064000" cy="845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90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学校</a:t>
            </a:r>
            <a:endParaRPr lang="zh-CN" altLang="en-US" sz="490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保暖款</a:t>
            </a:r>
            <a:endParaRPr lang="zh-CN" altLang="en-US" sz="5400" dirty="0">
              <a:highlight>
                <a:srgbClr val="FFFF00"/>
              </a:highlight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728528" y="5382744"/>
          <a:ext cx="1190350" cy="5355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0350"/>
              </a:tblGrid>
              <a:tr h="5355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1"/>
                        </a:rPr>
                        <a:t>https://www.amazon.es/dp/B09T3F5NPP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708080"/>
            <a:ext cx="2746328" cy="367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893722" y="5687544"/>
          <a:ext cx="2643806" cy="10529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3806"/>
              </a:tblGrid>
              <a:tr h="1052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sng" strike="noStrike" dirty="0">
                          <a:effectLst/>
                          <a:hlinkClick r:id="rId3"/>
                        </a:rPr>
                        <a:t>https://www.shein.co.uk/Manfinity-Hypemode-Men's-Loose-Fit-Hooded-Quilted-Jacket-With-Letter-Print,-Going-Out-Casual-Bubble-Coat-Letter-Winter-Coat-p-26245613-cat-3138.html</a:t>
                      </a:r>
                      <a:endParaRPr lang="en-US" sz="10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01" marR="8801" marT="8801" marB="0" anchor="ctr"/>
                </a:tc>
              </a:tr>
            </a:tbl>
          </a:graphicData>
        </a:graphic>
      </p:graphicFrame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806" y="1896926"/>
            <a:ext cx="3460667" cy="360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136637" y="5503818"/>
          <a:ext cx="667004" cy="1015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7092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5"/>
                        </a:rPr>
                        <a:t>https://www.amazon.com/dp/B0CKLPHZGV?th=1&amp;psc=1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25" name="图片 1024" descr="clip_cell_image1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76275" cy="7048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" name="表格 2"/>
          <p:cNvGraphicFramePr/>
          <p:nvPr>
            <p:custDataLst>
              <p:tags r:id="rId6"/>
            </p:custDataLst>
          </p:nvPr>
        </p:nvGraphicFramePr>
        <p:xfrm>
          <a:off x="3329940" y="5665470"/>
          <a:ext cx="1906905" cy="558165"/>
        </p:xfrm>
        <a:graphic>
          <a:graphicData uri="http://schemas.openxmlformats.org/drawingml/2006/table">
            <a:tbl>
              <a:tblPr/>
              <a:tblGrid>
                <a:gridCol w="1906905"/>
              </a:tblGrid>
              <a:tr h="55816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7"/>
                        </a:rPr>
                        <a:t>https://peterglenn.com/helly-hansen-crew-softshell-jacket-men-s/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7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9560" y="1806575"/>
            <a:ext cx="2759710" cy="3696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" y="2035810"/>
            <a:ext cx="2421890" cy="3347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单色</a:t>
            </a:r>
            <a:endParaRPr lang="zh-CN" altLang="en-US" sz="5400" dirty="0">
              <a:highlight>
                <a:srgbClr val="FFFF00"/>
              </a:highlight>
            </a:endParaRPr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8521"/>
            <a:ext cx="3145290" cy="267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15404" y="5630728"/>
          <a:ext cx="1491615" cy="454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1615"/>
              </a:tblGrid>
              <a:tr h="45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https://www.amazon.es/dp/B07HF1Z1VK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648021" y="5652953"/>
          <a:ext cx="1811383" cy="454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1383"/>
              </a:tblGrid>
              <a:tr h="4543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3" tooltip="https://www.amazon.es/dp/B094NZ6C19"/>
                        </a:rPr>
                        <a:t>https://www.amazon.es/dp/B094NZ6C19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333" y="1586496"/>
            <a:ext cx="2356026" cy="380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468822" y="5655493"/>
          <a:ext cx="1839958" cy="4766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9958"/>
              </a:tblGrid>
              <a:tr h="476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5"/>
                        </a:rPr>
                        <a:t>https://www.amazon.es/dp/B079RKKN2L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355" y="1526540"/>
            <a:ext cx="2887980" cy="3862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/>
          </a:bodyPr>
          <a:lstStyle/>
          <a:p>
            <a:r>
              <a:rPr lang="zh-CN" altLang="en-US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</a:t>
            </a:r>
            <a:r>
              <a:rPr lang="zh-CN" altLang="en-US" sz="48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休闲运动风衣、夹克</a:t>
            </a:r>
            <a:endParaRPr lang="zh-CN" altLang="en-US" sz="4800" dirty="0"/>
          </a:p>
        </p:txBody>
      </p:sp>
      <p:sp>
        <p:nvSpPr>
          <p:cNvPr id="5" name="文本框 4"/>
          <p:cNvSpPr txBox="1"/>
          <p:nvPr/>
        </p:nvSpPr>
        <p:spPr>
          <a:xfrm>
            <a:off x="239484" y="1051512"/>
            <a:ext cx="3226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连帽抽绳</a:t>
            </a:r>
            <a:endParaRPr lang="zh-CN" altLang="en-US" sz="4400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71195" y="5981066"/>
          <a:ext cx="2040509" cy="461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0509"/>
              </a:tblGrid>
              <a:tr h="4610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1"/>
                        </a:rPr>
                        <a:t>https://www.amazon.es/dp/B08Z84VB91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063515" y="1051511"/>
            <a:ext cx="3226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连帽长款</a:t>
            </a:r>
            <a:endParaRPr lang="zh-CN" altLang="en-US" sz="4400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444864" y="6129043"/>
          <a:ext cx="2832735" cy="394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2735"/>
              </a:tblGrid>
              <a:tr h="3947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https://www.aliexpress.com/item/1005010456943986.html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063" y="1820952"/>
            <a:ext cx="4160234" cy="416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8114916" y="1051510"/>
            <a:ext cx="3226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复古风</a:t>
            </a:r>
            <a:endParaRPr lang="zh-CN" altLang="en-US" sz="4400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990" y="2042795"/>
            <a:ext cx="2115820" cy="3716020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>
            <p:custDataLst>
              <p:tags r:id="rId5"/>
            </p:custDataLst>
          </p:nvPr>
        </p:nvGraphicFramePr>
        <p:xfrm>
          <a:off x="4679315" y="5980430"/>
          <a:ext cx="1839595" cy="725805"/>
        </p:xfrm>
        <a:graphic>
          <a:graphicData uri="http://schemas.openxmlformats.org/drawingml/2006/table">
            <a:tbl>
              <a:tblPr/>
              <a:tblGrid>
                <a:gridCol w="1839595"/>
              </a:tblGrid>
              <a:tr h="72580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https://www.amazon.ie/Helly-Hansen-Mens-Rigging-Coat/dp/B083MT6ZCP?th=1&amp;psc=1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5" name="内容占位符 14"/>
          <p:cNvPicPr>
            <a:picLocks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374650" y="2002155"/>
            <a:ext cx="3232785" cy="3880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677334" y="156238"/>
            <a:ext cx="8596668" cy="15506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lang="en-US" altLang="zh-CN" sz="4900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49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连帽风衣</a:t>
            </a:r>
            <a:br>
              <a:rPr lang="en-US" altLang="zh-CN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zh-CN" altLang="en-US" sz="4900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6065"/>
            <a:ext cx="2804244" cy="280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6853" y="5711792"/>
          <a:ext cx="2057672" cy="3687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672"/>
              </a:tblGrid>
              <a:tr h="3687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https://es.aliexpress.com/item/1005008720752734.html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933" y="2175339"/>
            <a:ext cx="1813833" cy="321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97801" y="5705555"/>
          <a:ext cx="2284095" cy="381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4095"/>
              </a:tblGrid>
              <a:tr h="3812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4"/>
                        </a:rPr>
                        <a:t>https://www.amazon.es/dp/B0B43296NV?th=1&amp;psc=1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455" y="2386065"/>
            <a:ext cx="2938393" cy="297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864001" y="5700224"/>
          <a:ext cx="1892209" cy="344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2209"/>
              </a:tblGrid>
              <a:tr h="3197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https://www.amazon.de/dp/B00BRT2NFI?th=1&amp;psc=1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392" y="2385590"/>
            <a:ext cx="3015394" cy="310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9274002" y="5670426"/>
          <a:ext cx="1993585" cy="410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3585"/>
              </a:tblGrid>
              <a:tr h="410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8"/>
                        </a:rPr>
                        <a:t>https://www.amazon.com/dp/B000BB7W4U?th=1&amp;psc=1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049" name="图片 2048" descr="clip_cell_image2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76275" cy="685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677333" y="-1"/>
            <a:ext cx="8596312" cy="15654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lang="en-US" altLang="zh-CN" sz="4900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49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潮流款</a:t>
            </a:r>
            <a:br>
              <a:rPr lang="en-US" altLang="zh-CN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zh-CN" altLang="en-US" sz="4900" dirty="0"/>
          </a:p>
        </p:txBody>
      </p:sp>
      <p:pic>
        <p:nvPicPr>
          <p:cNvPr id="1024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1130"/>
            <a:ext cx="2881949" cy="383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70422" y="5778000"/>
          <a:ext cx="2541103" cy="7708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1103"/>
              </a:tblGrid>
              <a:tr h="5877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sng" strike="noStrike" dirty="0">
                          <a:effectLst/>
                          <a:hlinkClick r:id="rId2"/>
                        </a:rPr>
                        <a:t>https://us.shein.com/PAVTROS-Men's-Casual-Fashionable-Street-Wear-Contrast-Color-Letter-Print-Half-Zip-Stand-Collar-Jacket,-Suitable-For-Spring-And-Autumn-p-415041317-cat-1983.html</a:t>
                      </a:r>
                      <a:endParaRPr 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01" marR="8801" marT="8801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349317" y="5760173"/>
          <a:ext cx="2115601" cy="1015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5601"/>
              </a:tblGrid>
              <a:tr h="6184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3"/>
                        </a:rPr>
                        <a:t>https://us.shein.com/PAVTROS-Men's-Contrast-Color-Half-Zip-Stand-Collar-Casual-Fashion-Patchwork-Pullover-Jacket-Football-p-453743472-cat-1983.html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376" y="1791130"/>
            <a:ext cx="2899485" cy="383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288" y="1791130"/>
            <a:ext cx="2899486" cy="383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096000" y="5760173"/>
          <a:ext cx="2611588" cy="680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1588"/>
              </a:tblGrid>
              <a:tr h="4677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https://jp.shein.com/DAZY-Men's-Casual-Solid-Color-Zip-Up-Stand-Collar-Jacket,-Fashion-Street-Style,-Autumn-p-163543679-cat-1983.html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083" y="2128484"/>
            <a:ext cx="3164047" cy="316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881093" y="5778000"/>
          <a:ext cx="1300026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0026"/>
              </a:tblGrid>
              <a:tr h="685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8"/>
                        </a:rPr>
                        <a:t>https://pt.aliexpress.com/item/1005005062652749.html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573188" y="33655"/>
            <a:ext cx="8596312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br>
              <a:rPr lang="en-US" altLang="zh-CN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49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休闲款</a:t>
            </a:r>
            <a:br>
              <a:rPr lang="en-US" altLang="zh-CN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zh-CN" altLang="en-US" sz="4900" dirty="0"/>
          </a:p>
        </p:txBody>
      </p:sp>
      <p:pic>
        <p:nvPicPr>
          <p:cNvPr id="1126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26" y="2005801"/>
            <a:ext cx="3741856" cy="374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803" y="1575072"/>
            <a:ext cx="3362841" cy="445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88803" y="6138200"/>
          <a:ext cx="3362841" cy="5633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2841"/>
              </a:tblGrid>
              <a:tr h="5633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3" tooltip="https://www.shein.co.uk/Manfinity-CasualCool-Men's-Solid-Color-Pocket---Button-Front-Long-Sleeve-Overcoat,-Autumn-Fall-Going-Out-Overcoat,-For-Friends,-Husband,-Boyfriend-Gifts-p-194431951-cat-3137.html"/>
                        </a:rPr>
                        <a:t>https://www.shein.co.uk/Manfinity-CasualCool-Men's-Solid-Color-Pocket---Button-Front-Long-Sleeve-Overcoat,-Autumn-Fall-Going-Out-Overcoat,-For-Friends,-Husband,-Boyfriend-Gifts-p-194431951-cat-3137.html</a:t>
                      </a:r>
                      <a:endParaRPr lang="en-US" sz="9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151" marR="8151" marT="8151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68172" y="5966210"/>
          <a:ext cx="2048964" cy="563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8964"/>
              </a:tblGrid>
              <a:tr h="5633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4"/>
                        </a:rPr>
                        <a:t>https://es.aliexpress.com/item/1005007203754997.html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11" y="1550530"/>
            <a:ext cx="3116172" cy="447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323311" y="6223359"/>
          <a:ext cx="3198495" cy="359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8495"/>
              </a:tblGrid>
              <a:tr h="3591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https://www.zalando.nl/yourturn-unisex-mantel-brown-yo12101gd-o11.html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23*57"/>
  <p:tag name="TABLE_ENDDRAG_RECT" val="453*189*223*57"/>
</p:tagLst>
</file>

<file path=ppt/tags/tag2.xml><?xml version="1.0" encoding="utf-8"?>
<p:tagLst xmlns:p="http://schemas.openxmlformats.org/presentationml/2006/main">
  <p:tag name="TABLE_ENDDRAG_ORIGIN_RECT" val="267*55"/>
  <p:tag name="TABLE_ENDDRAG_RECT" val="25*484*267*55"/>
</p:tagLst>
</file>

<file path=ppt/tags/tag3.xml><?xml version="1.0" encoding="utf-8"?>
<p:tagLst xmlns:p="http://schemas.openxmlformats.org/presentationml/2006/main">
  <p:tag name="TABLE_ENDDRAG_ORIGIN_RECT" val="152*48"/>
  <p:tag name="TABLE_ENDDRAG_RECT" val="594*491*152*48"/>
</p:tagLst>
</file>

<file path=ppt/tags/tag4.xml><?xml version="1.0" encoding="utf-8"?>
<p:tagLst xmlns:p="http://schemas.openxmlformats.org/presentationml/2006/main">
  <p:tag name="TABLE_ENDDRAG_ORIGIN_RECT" val="150*109"/>
  <p:tag name="TABLE_ENDDRAG_RECT" val="262*418*150*109"/>
</p:tagLst>
</file>

<file path=ppt/tags/tag5.xml><?xml version="1.0" encoding="utf-8"?>
<p:tagLst xmlns:p="http://schemas.openxmlformats.org/presentationml/2006/main">
  <p:tag name="TABLE_ENDDRAG_ORIGIN_RECT" val="144*50"/>
  <p:tag name="TABLE_ENDDRAG_RECT" val="376*482*144*50"/>
</p:tagLst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3430</Words>
  <Application>WPS 演示</Application>
  <PresentationFormat>宽屏</PresentationFormat>
  <Paragraphs>115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Wingdings 3</vt:lpstr>
      <vt:lpstr>Arial</vt:lpstr>
      <vt:lpstr>华文宋体</vt:lpstr>
      <vt:lpstr>Trebuchet MS</vt:lpstr>
      <vt:lpstr>方正姚体</vt:lpstr>
      <vt:lpstr>微软雅黑</vt:lpstr>
      <vt:lpstr>Arial Unicode MS</vt:lpstr>
      <vt:lpstr>华文新魏</vt:lpstr>
      <vt:lpstr>Calibri</vt:lpstr>
      <vt:lpstr>平面</vt:lpstr>
      <vt:lpstr>8月BSR开款 以下款式有BSR标签 买手绑定后 可享搜推提权——额外流量  男装单马甲 男士休闲运动风衣、夹克 男士风衣</vt:lpstr>
      <vt:lpstr>PowerPoint 演示文稿</vt:lpstr>
      <vt:lpstr>上款路径指引</vt:lpstr>
      <vt:lpstr>男士单马甲 日常搭配</vt:lpstr>
      <vt:lpstr>男士单马甲 保暖</vt:lpstr>
      <vt:lpstr>男士休闲运动风衣、夹克 街头风格</vt:lpstr>
      <vt:lpstr>男士休闲运动风衣、夹克 地名</vt:lpstr>
      <vt:lpstr>男士休闲运动风衣、夹克 保暖款</vt:lpstr>
      <vt:lpstr>男士休闲运动风衣、夹克 单色</vt:lpstr>
      <vt:lpstr>男士休闲运动风衣、夹克</vt:lpstr>
      <vt:lpstr>PowerPoint 演示文稿</vt:lpstr>
      <vt:lpstr>潮流款 </vt:lpstr>
      <vt:lpstr>男士风衣 休闲款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游无垠</dc:creator>
  <cp:lastModifiedBy>youwuyin</cp:lastModifiedBy>
  <cp:revision>5</cp:revision>
  <dcterms:created xsi:type="dcterms:W3CDTF">2026-08-21T06:00:00Z</dcterms:created>
  <dcterms:modified xsi:type="dcterms:W3CDTF">2026-08-24T05:35:30Z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EDDF1DED46654CE886E15890EA996182_12</vt:lpwstr>
  </property>
  <property fmtid="{D5CDD505-2E9C-101B-9397-08002B2CF9AE}" pid="3" name="KSOProductBuildVer">
    <vt:lpwstr>2052-12.8.2.17838</vt:lpwstr>
  </property>
</Properties>
</file>