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77" r:id="rId4"/>
    <p:sldId id="264" r:id="rId5"/>
    <p:sldId id="260" r:id="rId6"/>
    <p:sldId id="290" r:id="rId7"/>
    <p:sldId id="291" r:id="rId8"/>
    <p:sldId id="292" r:id="rId9"/>
    <p:sldId id="289" r:id="rId10"/>
    <p:sldId id="294" r:id="rId11"/>
    <p:sldId id="298" r:id="rId12"/>
    <p:sldId id="296" r:id="rId13"/>
    <p:sldId id="29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image" Target="../media/image4.jpg"/><Relationship Id="rId7" Type="http://schemas.openxmlformats.org/officeDocument/2006/relationships/hyperlink" Target="https://www.shein.co.uk/Manfinity-Unisex-Locker-sitzende-Herren-Weste-mit-Buchstaben-Patch-und-Klapptasche-(ohne-T-Shirt),-Herbst,-Winter,-Paar-Accessoires-p-21417059-cat-6277.html" TargetMode="External"/><Relationship Id="rId6" Type="http://schemas.openxmlformats.org/officeDocument/2006/relationships/tags" Target="../tags/tag3.xml"/><Relationship Id="rId5" Type="http://schemas.openxmlformats.org/officeDocument/2006/relationships/hyperlink" Target="https://es.shein.com/Artur-Kramer-Manfinity-Streetrush-Men-s-Skeleton-Print-Pocket-Casual-Vest-Vacation-Halloween-Summer-Autumn-Outing-Streetwear-Vest-Gift-Weighted-Vest-For-Friends-Husband-Boyfriend-Streetwear-For-Men-Men-Vest-Jacket-Men-s-Casual-Skull-Print-Pattern-Colorful-Vest-Vest-Jacket-Loose-Vest-INS-Best-Seller-Men-s-Street-Fashion-Loose-Vest-Casual-Vest-Men-s-Vest-Jacket-Men-s-Clothing-Suit-Men-s-Fashion-Clothing-Suitable-For-Gifts-For-Boyfriends-Street-Vest-Streetwear-For-Going-Out-p-441102785.html" TargetMode="External"/><Relationship Id="rId4" Type="http://schemas.openxmlformats.org/officeDocument/2006/relationships/tags" Target="../tags/tag2.xml"/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4" Type="http://schemas.openxmlformats.org/officeDocument/2006/relationships/slideLayout" Target="../slideLayouts/slideLayout2.xml"/><Relationship Id="rId13" Type="http://schemas.openxmlformats.org/officeDocument/2006/relationships/hyperlink" Target="https://www.amazon.de/dp/B07V1PMKVC" TargetMode="External"/><Relationship Id="rId12" Type="http://schemas.openxmlformats.org/officeDocument/2006/relationships/tags" Target="../tags/tag5.xml"/><Relationship Id="rId11" Type="http://schemas.openxmlformats.org/officeDocument/2006/relationships/image" Target="../media/image5.jpg"/><Relationship Id="rId10" Type="http://schemas.openxmlformats.org/officeDocument/2006/relationships/hyperlink" Target="https://www.amazon.de/dp/B07LG95Y5V" TargetMode="External"/><Relationship Id="rId1" Type="http://schemas.openxmlformats.org/officeDocument/2006/relationships/tags" Target="../tags/tag1.xml"/></Relationships>
</file>

<file path=ppt/slides/_rels/slide5.xml.rels><?xml version="1.0" encoding="UTF-8" standalone="yes"?>
<Relationships xmlns="http://schemas.openxmlformats.org/package/2006/relationships"><Relationship Id="rId9" Type="http://schemas.openxmlformats.org/officeDocument/2006/relationships/hyperlink" Target="https://www.amazon.com/dp/B0GT7YDFCY?th=1" TargetMode="External"/><Relationship Id="rId8" Type="http://schemas.openxmlformats.org/officeDocument/2006/relationships/tags" Target="../tags/tag8.xml"/><Relationship Id="rId7" Type="http://schemas.openxmlformats.org/officeDocument/2006/relationships/image" Target="../media/image8.jpg"/><Relationship Id="rId6" Type="http://schemas.openxmlformats.org/officeDocument/2006/relationships/hyperlink" Target="https://www.aliexpress.com/item/1005006269056940.html" TargetMode="External"/><Relationship Id="rId5" Type="http://schemas.openxmlformats.org/officeDocument/2006/relationships/tags" Target="../tags/tag7.xml"/><Relationship Id="rId4" Type="http://schemas.openxmlformats.org/officeDocument/2006/relationships/image" Target="../media/image7.jpg"/><Relationship Id="rId3" Type="http://schemas.openxmlformats.org/officeDocument/2006/relationships/hyperlink" Target="https://www.aliexpress.com/item/1005008077733003.html" TargetMode="External"/><Relationship Id="rId2" Type="http://schemas.openxmlformats.org/officeDocument/2006/relationships/tags" Target="../tags/tag6.xml"/><Relationship Id="rId16" Type="http://schemas.openxmlformats.org/officeDocument/2006/relationships/slideLayout" Target="../slideLayouts/slideLayout2.xml"/><Relationship Id="rId15" Type="http://schemas.openxmlformats.org/officeDocument/2006/relationships/hyperlink" Target="https://www.coupang.com/vp/products/9507854615?itemId=28331147768&amp;vendorItemId=95407461565&amp;sourceType=CATEGORY&amp;categoryId=564927" TargetMode="External"/><Relationship Id="rId14" Type="http://schemas.openxmlformats.org/officeDocument/2006/relationships/tags" Target="../tags/tag10.xml"/><Relationship Id="rId13" Type="http://schemas.openxmlformats.org/officeDocument/2006/relationships/image" Target="../media/image10.jpg"/><Relationship Id="rId12" Type="http://schemas.openxmlformats.org/officeDocument/2006/relationships/hyperlink" Target="https://www.amazon.de/dp/B0H3V81PTK" TargetMode="External"/><Relationship Id="rId11" Type="http://schemas.openxmlformats.org/officeDocument/2006/relationships/tags" Target="../tags/tag9.xml"/><Relationship Id="rId10" Type="http://schemas.openxmlformats.org/officeDocument/2006/relationships/image" Target="../media/image9.jpg"/><Relationship Id="rId1" Type="http://schemas.openxmlformats.org/officeDocument/2006/relationships/image" Target="../media/image6.jpg"/></Relationships>
</file>

<file path=ppt/slides/_rels/slide6.xml.rels><?xml version="1.0" encoding="UTF-8" standalone="yes"?>
<Relationships xmlns="http://schemas.openxmlformats.org/package/2006/relationships"><Relationship Id="rId9" Type="http://schemas.openxmlformats.org/officeDocument/2006/relationships/hyperlink" Target="https://www.amazon.de/dp/B07D5R37M2" TargetMode="External"/><Relationship Id="rId8" Type="http://schemas.openxmlformats.org/officeDocument/2006/relationships/tags" Target="../tags/tag13.xml"/><Relationship Id="rId7" Type="http://schemas.openxmlformats.org/officeDocument/2006/relationships/image" Target="../media/image13.jpg"/><Relationship Id="rId6" Type="http://schemas.openxmlformats.org/officeDocument/2006/relationships/hyperlink" Target="https://www.amazon.de/dp/B0GCZPH1YS" TargetMode="External"/><Relationship Id="rId5" Type="http://schemas.openxmlformats.org/officeDocument/2006/relationships/tags" Target="../tags/tag12.xml"/><Relationship Id="rId4" Type="http://schemas.openxmlformats.org/officeDocument/2006/relationships/image" Target="../media/image12.jpg"/><Relationship Id="rId3" Type="http://schemas.openxmlformats.org/officeDocument/2006/relationships/hyperlink" Target="https://www.amazon.de/dp/B019OEHWJY" TargetMode="External"/><Relationship Id="rId2" Type="http://schemas.openxmlformats.org/officeDocument/2006/relationships/tags" Target="../tags/tag11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1.jpg"/></Relationships>
</file>

<file path=ppt/slides/_rels/slide7.xml.rels><?xml version="1.0" encoding="UTF-8" standalone="yes"?>
<Relationships xmlns="http://schemas.openxmlformats.org/package/2006/relationships"><Relationship Id="rId9" Type="http://schemas.openxmlformats.org/officeDocument/2006/relationships/hyperlink" Target="https://us.shein.com/Manfinity-EMRG-Men's-Contrast-Color-Zipper-High-Collar-Casual-Long-Sleeve-Jacket-p-196975515.html" TargetMode="External"/><Relationship Id="rId8" Type="http://schemas.openxmlformats.org/officeDocument/2006/relationships/tags" Target="../tags/tag16.xml"/><Relationship Id="rId7" Type="http://schemas.openxmlformats.org/officeDocument/2006/relationships/image" Target="../media/image16.jpg"/><Relationship Id="rId6" Type="http://schemas.openxmlformats.org/officeDocument/2006/relationships/hyperlink" Target="https://us.shein.com/ROMWE-MEN-Street-Life-Men's-Jacket-And-Coat-Autumn/Winter-Design-Patchwork-Street-Style-American-Jacket-Coat-Unisex-p-499238692-cat-1983.html" TargetMode="External"/><Relationship Id="rId5" Type="http://schemas.openxmlformats.org/officeDocument/2006/relationships/tags" Target="../tags/tag15.xml"/><Relationship Id="rId4" Type="http://schemas.openxmlformats.org/officeDocument/2006/relationships/image" Target="../media/image15.jpg"/><Relationship Id="rId3" Type="http://schemas.openxmlformats.org/officeDocument/2006/relationships/hyperlink" Target="https://us.shein.com/ROMWE-MEN-Street-Life-Unisex-Patchwork-Street-Style-American-Jacket,-Autumn/Winter-p-314547498.html" TargetMode="External"/><Relationship Id="rId2" Type="http://schemas.openxmlformats.org/officeDocument/2006/relationships/tags" Target="../tags/tag14.xml"/><Relationship Id="rId19" Type="http://schemas.openxmlformats.org/officeDocument/2006/relationships/slideLayout" Target="../slideLayouts/slideLayout2.xml"/><Relationship Id="rId18" Type="http://schemas.openxmlformats.org/officeDocument/2006/relationships/hyperlink" Target="https://ko.aliexpress.com/item/1005007646838856.html" TargetMode="External"/><Relationship Id="rId17" Type="http://schemas.openxmlformats.org/officeDocument/2006/relationships/tags" Target="../tags/tag19.xml"/><Relationship Id="rId16" Type="http://schemas.openxmlformats.org/officeDocument/2006/relationships/image" Target="../media/image19.jpg"/><Relationship Id="rId15" Type="http://schemas.openxmlformats.org/officeDocument/2006/relationships/hyperlink" Target="https://us.shein.com/ROMWE-MEN-Prep-Men's-Contrast-Color-Graffiti-Pattern-Zip-Up-Long-Sleeve-Jacket-p-227158496.html" TargetMode="External"/><Relationship Id="rId14" Type="http://schemas.openxmlformats.org/officeDocument/2006/relationships/tags" Target="../tags/tag18.xml"/><Relationship Id="rId13" Type="http://schemas.openxmlformats.org/officeDocument/2006/relationships/image" Target="../media/image18.jpg"/><Relationship Id="rId12" Type="http://schemas.openxmlformats.org/officeDocument/2006/relationships/hyperlink" Target="https://us.shein.com/Manfinity-Sporsity-Loose-Fit-Men's-Letter-Printed-Patched-Jacket-(Hoodie-Not-Included)-p-25940145-cat-1983.html" TargetMode="External"/><Relationship Id="rId11" Type="http://schemas.openxmlformats.org/officeDocument/2006/relationships/tags" Target="../tags/tag17.xml"/><Relationship Id="rId10" Type="http://schemas.openxmlformats.org/officeDocument/2006/relationships/image" Target="../media/image17.jpg"/><Relationship Id="rId1" Type="http://schemas.openxmlformats.org/officeDocument/2006/relationships/image" Target="../media/image14.jpg"/></Relationships>
</file>

<file path=ppt/slides/_rels/slide8.xml.rels><?xml version="1.0" encoding="UTF-8" standalone="yes"?>
<Relationships xmlns="http://schemas.openxmlformats.org/package/2006/relationships"><Relationship Id="rId9" Type="http://schemas.openxmlformats.org/officeDocument/2006/relationships/hyperlink" Target="https://us.shein.com/Men's-Casual-Lapel-Jacket,-Sports-Comfortable-Multi-Pocket-Lightweight-Versatile-Outerwear,-Suitable-As-Gift-For-Husband,-Friend,-Boyfriend,-Father-p-424425306-cat-2448.html" TargetMode="External"/><Relationship Id="rId8" Type="http://schemas.openxmlformats.org/officeDocument/2006/relationships/tags" Target="../tags/tag22.xml"/><Relationship Id="rId7" Type="http://schemas.openxmlformats.org/officeDocument/2006/relationships/image" Target="../media/image22.jpg"/><Relationship Id="rId6" Type="http://schemas.openxmlformats.org/officeDocument/2006/relationships/hyperlink" Target="https://us.shein.com/Manfinity-INSISELF-Men's-Boxy-Casual-Turndown-Collar-Long-Sleeve-Jacket,-Suitable-For-Autumn/Winter-p-182675673.html" TargetMode="External"/><Relationship Id="rId5" Type="http://schemas.openxmlformats.org/officeDocument/2006/relationships/tags" Target="../tags/tag21.xml"/><Relationship Id="rId4" Type="http://schemas.openxmlformats.org/officeDocument/2006/relationships/image" Target="../media/image21.jpg"/><Relationship Id="rId3" Type="http://schemas.openxmlformats.org/officeDocument/2006/relationships/hyperlink" Target="https://us.shein.com/Manfinity-ZONE917-Men's-Casual-Fashion-Street-College-Sports-Letter-Print-Contrast-Piping-Stand-Collar-Zip-Up-Jacket,-Autumn-p-188771772.html" TargetMode="External"/><Relationship Id="rId2" Type="http://schemas.openxmlformats.org/officeDocument/2006/relationships/tags" Target="../tags/tag20.xml"/><Relationship Id="rId13" Type="http://schemas.openxmlformats.org/officeDocument/2006/relationships/slideLayout" Target="../slideLayouts/slideLayout2.xml"/><Relationship Id="rId12" Type="http://schemas.openxmlformats.org/officeDocument/2006/relationships/hyperlink" Target="https://www.coupang.com/vp/products/8679910074?itemId=25197451153&amp;vendorItemId=92194106703&amp;sourceType=CATEGORY&amp;categoryId=564927" TargetMode="External"/><Relationship Id="rId11" Type="http://schemas.openxmlformats.org/officeDocument/2006/relationships/tags" Target="../tags/tag23.xml"/><Relationship Id="rId10" Type="http://schemas.openxmlformats.org/officeDocument/2006/relationships/image" Target="../media/image23.jpg"/><Relationship Id="rId1" Type="http://schemas.openxmlformats.org/officeDocument/2006/relationships/image" Target="../media/image20.jpg"/></Relationships>
</file>

<file path=ppt/slides/_rels/slide9.xml.rels><?xml version="1.0" encoding="UTF-8" standalone="yes"?>
<Relationships xmlns="http://schemas.openxmlformats.org/package/2006/relationships"><Relationship Id="rId9" Type="http://schemas.openxmlformats.org/officeDocument/2006/relationships/hyperlink" Target="https://us.shein.com/Manfinity-EMRG-Men's-Figure-Graphic-Long-Sleeve-Zipper-Collar-Casual-Jacket-p-65815610-cat-1983.html" TargetMode="External"/><Relationship Id="rId8" Type="http://schemas.openxmlformats.org/officeDocument/2006/relationships/tags" Target="../tags/tag26.xml"/><Relationship Id="rId7" Type="http://schemas.openxmlformats.org/officeDocument/2006/relationships/image" Target="../media/image26.jpg"/><Relationship Id="rId6" Type="http://schemas.openxmlformats.org/officeDocument/2006/relationships/hyperlink" Target="https://us.shein.com/PAVTROS-Manfinity-Streetrush-Men's-Fashionable-Printed-Long-Sleeve-Jacket-Outerwear-Sports-Jacket-Zip-Up-Jacket-Graphic-Jacket-Racing-Jacket-Sportswear-Jacket,-2000s-Style,Fall-p-149403824-cat-1983.html" TargetMode="External"/><Relationship Id="rId5" Type="http://schemas.openxmlformats.org/officeDocument/2006/relationships/tags" Target="../tags/tag25.xml"/><Relationship Id="rId4" Type="http://schemas.openxmlformats.org/officeDocument/2006/relationships/image" Target="../media/image25.jpg"/><Relationship Id="rId3" Type="http://schemas.openxmlformats.org/officeDocument/2006/relationships/hyperlink" Target="https://us.shein.com/ROMWE-MEN-Street-Life-Unisex-Leopard-Print---English-Text-Graphic-Patchwork-Fleece-Lined-Jacket,-Autumn/Winter-p-200798388.html" TargetMode="External"/><Relationship Id="rId2" Type="http://schemas.openxmlformats.org/officeDocument/2006/relationships/tags" Target="../tags/tag24.xml"/><Relationship Id="rId13" Type="http://schemas.openxmlformats.org/officeDocument/2006/relationships/slideLayout" Target="../slideLayouts/slideLayout2.xml"/><Relationship Id="rId12" Type="http://schemas.openxmlformats.org/officeDocument/2006/relationships/hyperlink" Target="https://es.aliexpress.com/item/1005010645689710.html" TargetMode="External"/><Relationship Id="rId11" Type="http://schemas.openxmlformats.org/officeDocument/2006/relationships/tags" Target="../tags/tag27.xml"/><Relationship Id="rId10" Type="http://schemas.openxmlformats.org/officeDocument/2006/relationships/image" Target="../media/image27.jpg"/><Relationship Id="rId1" Type="http://schemas.openxmlformats.org/officeDocument/2006/relationships/image" Target="../media/image24.jpg"/></Relationships>
</file>

<file path=ppt/slides/_rels/slide10.xml.rels><?xml version="1.0" encoding="UTF-8" standalone="yes"?>
<Relationships xmlns="http://schemas.openxmlformats.org/package/2006/relationships"><Relationship Id="rId9" Type="http://schemas.openxmlformats.org/officeDocument/2006/relationships/hyperlink" Target="https://us.shein.com/ROMWE-MEN-Street-Life-Men's-Turndown-Collar-Single-Breasted-Fashionable-Versatile-Commuter-Long-Sleeve-Jacket-p-309314711.html" TargetMode="External"/><Relationship Id="rId8" Type="http://schemas.openxmlformats.org/officeDocument/2006/relationships/tags" Target="../tags/tag30.xml"/><Relationship Id="rId7" Type="http://schemas.openxmlformats.org/officeDocument/2006/relationships/image" Target="../media/image30.jpg"/><Relationship Id="rId6" Type="http://schemas.openxmlformats.org/officeDocument/2006/relationships/hyperlink" Target="https://us.shein.com/PAVTROS-Men's-Letter-Print-Contrast-Color-Long-Sleeve-Frog-Button-Jacket-p-503300905-cat-1983.html" TargetMode="External"/><Relationship Id="rId5" Type="http://schemas.openxmlformats.org/officeDocument/2006/relationships/tags" Target="../tags/tag29.xml"/><Relationship Id="rId4" Type="http://schemas.openxmlformats.org/officeDocument/2006/relationships/image" Target="../media/image29.jpg"/><Relationship Id="rId3" Type="http://schemas.openxmlformats.org/officeDocument/2006/relationships/hyperlink" Target="https://www.shein.com/FeverCity-Men's-Fashion-Punk-Zipper-Jacket,-Fall,-Winter,-Grunge-p-168597190-cat-1983.html" TargetMode="External"/><Relationship Id="rId2" Type="http://schemas.openxmlformats.org/officeDocument/2006/relationships/tags" Target="../tags/tag28.xml"/><Relationship Id="rId13" Type="http://schemas.openxmlformats.org/officeDocument/2006/relationships/slideLayout" Target="../slideLayouts/slideLayout2.xml"/><Relationship Id="rId12" Type="http://schemas.openxmlformats.org/officeDocument/2006/relationships/hyperlink" Target="https://us.shein.com/ROMWE-MEN-Street-Life-Men's-Autumn-Casual-Fashion-Street-Cross-Print-Contrast-Color-Zipper-Stand-Collar-Jacket-p-217520760.html" TargetMode="External"/><Relationship Id="rId11" Type="http://schemas.openxmlformats.org/officeDocument/2006/relationships/tags" Target="../tags/tag31.xml"/><Relationship Id="rId10" Type="http://schemas.openxmlformats.org/officeDocument/2006/relationships/image" Target="../media/image31.jpg"/><Relationship Id="rId1" Type="http://schemas.openxmlformats.org/officeDocument/2006/relationships/image" Target="../media/image28.jpg"/></Relationships>
</file>

<file path=ppt/slides/_rels/slide11.xml.rels><?xml version="1.0" encoding="UTF-8" standalone="yes"?>
<Relationships xmlns="http://schemas.openxmlformats.org/package/2006/relationships"><Relationship Id="rId9" Type="http://schemas.openxmlformats.org/officeDocument/2006/relationships/hyperlink" Target="https://www.aliexpress.com/item/1005007729603286.html" TargetMode="External"/><Relationship Id="rId8" Type="http://schemas.openxmlformats.org/officeDocument/2006/relationships/tags" Target="../tags/tag34.xml"/><Relationship Id="rId7" Type="http://schemas.openxmlformats.org/officeDocument/2006/relationships/image" Target="../media/image34.jpg"/><Relationship Id="rId6" Type="http://schemas.openxmlformats.org/officeDocument/2006/relationships/hyperlink" Target="https://www.coupang.com/vp/products/9065661162?itemId=26621475265&amp;vendorItemId=94481750027&amp;sourceType=CATEGORY&amp;categoryId=431683" TargetMode="External"/><Relationship Id="rId5" Type="http://schemas.openxmlformats.org/officeDocument/2006/relationships/tags" Target="../tags/tag33.xml"/><Relationship Id="rId4" Type="http://schemas.openxmlformats.org/officeDocument/2006/relationships/image" Target="../media/image33.jpg"/><Relationship Id="rId3" Type="http://schemas.openxmlformats.org/officeDocument/2006/relationships/hyperlink" Target="https://www.aliexpress.com/item/1005010304567889.html" TargetMode="External"/><Relationship Id="rId2" Type="http://schemas.openxmlformats.org/officeDocument/2006/relationships/tags" Target="../tags/tag32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32.jpg"/></Relationships>
</file>

<file path=ppt/slides/_rels/slide12.xml.rels><?xml version="1.0" encoding="UTF-8" standalone="yes"?>
<Relationships xmlns="http://schemas.openxmlformats.org/package/2006/relationships"><Relationship Id="rId9" Type="http://schemas.openxmlformats.org/officeDocument/2006/relationships/hyperlink" Target="https://www.aliexpress.com/item/1005004455834645.html" TargetMode="External"/><Relationship Id="rId8" Type="http://schemas.openxmlformats.org/officeDocument/2006/relationships/tags" Target="../tags/tag37.xml"/><Relationship Id="rId7" Type="http://schemas.openxmlformats.org/officeDocument/2006/relationships/image" Target="../media/image37.jpg"/><Relationship Id="rId6" Type="http://schemas.openxmlformats.org/officeDocument/2006/relationships/hyperlink" Target="https://us.shein.com/Manfinity-Hypemode-Loose-Fit-Men's-Lapel-Collar-Dropping-Shoulder-Belted-Overcoat-p-11470441-cat-3137.html" TargetMode="External"/><Relationship Id="rId5" Type="http://schemas.openxmlformats.org/officeDocument/2006/relationships/tags" Target="../tags/tag36.xml"/><Relationship Id="rId4" Type="http://schemas.openxmlformats.org/officeDocument/2006/relationships/image" Target="../media/image36.jpg"/><Relationship Id="rId3" Type="http://schemas.openxmlformats.org/officeDocument/2006/relationships/hyperlink" Target="https://us.shein.com/Manfinity-Bizformal-Men's-Double-Breasted-Casual-Jackets,-Fall-And-Winter,-Mix-And-Match-Autumn-Menswear,-Winter-Men's-Coats,-Warm-Coats-Elegantcasual-Cream-Outfit-Men-Beige-Men-Outfit-Manfinity-Streetrush-Young-Street-Style-For-Men-p-179345550.html" TargetMode="External"/><Relationship Id="rId2" Type="http://schemas.openxmlformats.org/officeDocument/2006/relationships/tags" Target="../tags/tag35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313690"/>
            <a:ext cx="12192000" cy="622998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8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8</a:t>
            </a:r>
            <a:r>
              <a:rPr lang="zh-CN" altLang="en-US" sz="8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月</a:t>
            </a:r>
            <a:r>
              <a:rPr lang="en-US" altLang="zh-CN" sz="8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BSR</a:t>
            </a:r>
            <a:r>
              <a:rPr lang="zh-CN" altLang="en-US" sz="8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开款（二）</a:t>
            </a:r>
            <a:br>
              <a:rPr lang="en-US" altLang="zh-CN" sz="8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6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以下款式有</a:t>
            </a:r>
            <a:r>
              <a:rPr lang="en-US" altLang="zh-CN" sz="6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BSR</a:t>
            </a:r>
            <a:r>
              <a:rPr lang="zh-CN" altLang="en-US" sz="6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标签 买手绑定后</a:t>
            </a:r>
            <a:br>
              <a:rPr lang="en-US" altLang="zh-CN" sz="6000" dirty="0">
                <a:solidFill>
                  <a:srgbClr val="FF0000"/>
                </a:solidFill>
              </a:rPr>
            </a:br>
            <a:r>
              <a:rPr lang="zh-CN" altLang="en-US" sz="6000" dirty="0">
                <a:solidFill>
                  <a:srgbClr val="FF0000"/>
                </a:solidFill>
              </a:rPr>
              <a:t>可享</a:t>
            </a:r>
            <a:r>
              <a:rPr lang="zh-CN" altLang="en-US" sz="6000" i="1" dirty="0">
                <a:solidFill>
                  <a:srgbClr val="FF0000"/>
                </a:solidFill>
              </a:rPr>
              <a:t>搜推提权</a:t>
            </a:r>
            <a:r>
              <a:rPr lang="en-US" altLang="zh-CN" sz="6000" i="1" dirty="0">
                <a:solidFill>
                  <a:srgbClr val="FF0000"/>
                </a:solidFill>
              </a:rPr>
              <a:t>——</a:t>
            </a:r>
            <a:r>
              <a:rPr lang="zh-CN" altLang="en-US" sz="6000" i="1" dirty="0">
                <a:solidFill>
                  <a:srgbClr val="FF0000"/>
                </a:solidFill>
              </a:rPr>
              <a:t>额外流量</a:t>
            </a:r>
            <a:br>
              <a:rPr lang="en-US" altLang="zh-CN" sz="6000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br>
              <a:rPr lang="en-US" altLang="zh-CN" sz="6000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男装单马甲</a:t>
            </a:r>
            <a:br>
              <a:rPr lang="en-US" altLang="zh-CN" sz="8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男士休闲运动风衣、夹克（免审版寄样）</a:t>
            </a:r>
            <a:br>
              <a:rPr lang="en-US" altLang="zh-CN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男士风衣</a:t>
            </a:r>
            <a:endParaRPr lang="zh-CN" altLang="en-US" dirty="0">
              <a:solidFill>
                <a:schemeClr val="tx1"/>
              </a:solidFill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941320" y="39306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4000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  <a:sym typeface="+mn-ea"/>
              </a:rPr>
              <a:t>对接买手：游无垠</a:t>
            </a:r>
            <a:endParaRPr lang="zh-CN" altLang="en-US" sz="4000" dirty="0">
              <a:solidFill>
                <a:srgbClr val="FF0000"/>
              </a:solidFill>
              <a:latin typeface="华文宋体" panose="02010600040101010101" pitchFamily="2" charset="-122"/>
              <a:ea typeface="华文宋体" panose="02010600040101010101" pitchFamily="2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1170" y="1081405"/>
            <a:ext cx="3630295" cy="56711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42030" y="324485"/>
            <a:ext cx="5108575" cy="916305"/>
          </a:xfrm>
        </p:spPr>
        <p:txBody>
          <a:bodyPr>
            <a:noAutofit/>
          </a:bodyPr>
          <a:lstStyle/>
          <a:p>
            <a:pPr algn="ctr"/>
            <a:r>
              <a:rPr lang="zh-CN" altLang="en-US" sz="4900" b="1" i="0" dirty="0">
                <a:solidFill>
                  <a:srgbClr val="111111"/>
                </a:solidFill>
                <a:effectLst/>
                <a:latin typeface="华文宋体" panose="02010600040101010101" pitchFamily="2" charset="-122"/>
                <a:ea typeface="华文宋体" panose="02010600040101010101" pitchFamily="2" charset="-122"/>
              </a:rPr>
              <a:t>上款路径指引</a:t>
            </a:r>
            <a:endParaRPr lang="zh-CN" altLang="en-US" sz="49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2299970"/>
            <a:ext cx="12192000" cy="2839720"/>
          </a:xfrm>
        </p:spPr>
        <p:txBody>
          <a:bodyPr>
            <a:noAutofit/>
          </a:bodyPr>
          <a:lstStyle/>
          <a:p>
            <a:pPr marL="0" indent="0" algn="ctr">
              <a:lnSpc>
                <a:spcPct val="250000"/>
              </a:lnSpc>
              <a:buNone/>
            </a:pPr>
            <a:r>
              <a:rPr sz="2400" dirty="0">
                <a:latin typeface="华文宋体" panose="02010600040101010101" pitchFamily="2" charset="-122"/>
                <a:ea typeface="华文宋体" panose="02010600040101010101" pitchFamily="2" charset="-122"/>
              </a:rPr>
              <a:t>服装、鞋靴和珠宝饰品 &gt; 男士时尚 &gt; 男装 &gt; 男士外套 &gt; </a:t>
            </a:r>
            <a:r>
              <a:rPr sz="2400" dirty="0"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男装单马甲</a:t>
            </a:r>
            <a:endParaRPr sz="24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0" indent="0" algn="ctr">
              <a:lnSpc>
                <a:spcPct val="250000"/>
              </a:lnSpc>
              <a:buNone/>
            </a:pPr>
            <a:r>
              <a:rPr sz="2400" dirty="0">
                <a:latin typeface="华文宋体" panose="02010600040101010101" pitchFamily="2" charset="-122"/>
                <a:ea typeface="华文宋体" panose="02010600040101010101" pitchFamily="2" charset="-122"/>
              </a:rPr>
              <a:t>服装、鞋靴和珠宝饰品 &gt; 男士时尚 &gt; 男装 &gt; 男士休闲运动服 &gt; </a:t>
            </a:r>
            <a:r>
              <a:rPr sz="2400" dirty="0"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男士休闲运动风衣、夹克</a:t>
            </a:r>
            <a:endParaRPr sz="24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0" indent="0" algn="ctr">
              <a:lnSpc>
                <a:spcPct val="250000"/>
              </a:lnSpc>
              <a:buNone/>
            </a:pPr>
            <a:r>
              <a:rPr sz="2400" dirty="0">
                <a:latin typeface="华文宋体" panose="02010600040101010101" pitchFamily="2" charset="-122"/>
                <a:ea typeface="华文宋体" panose="02010600040101010101" pitchFamily="2" charset="-122"/>
              </a:rPr>
              <a:t>服装、鞋靴和珠宝饰品 &gt; 男士时尚 &gt; 男装 &gt; 男士外套 &gt; 男士风衣雨衣 &gt; </a:t>
            </a:r>
            <a:r>
              <a:rPr sz="2400" dirty="0"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男士风衣</a:t>
            </a:r>
            <a:endParaRPr sz="2400" dirty="0">
              <a:highlight>
                <a:srgbClr val="FFFF00"/>
              </a:highligh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0842" y="55258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男士单马甲</a:t>
            </a:r>
            <a:br>
              <a:rPr lang="en-US" altLang="zh-CN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日常轻便</a:t>
            </a:r>
            <a:endParaRPr lang="zh-CN" altLang="en-US" sz="54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860796" y="4574469"/>
            <a:ext cx="304800" cy="30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3032125" y="2976880"/>
          <a:ext cx="3406775" cy="2345690"/>
        </p:xfrm>
        <a:graphic>
          <a:graphicData uri="http://schemas.openxmlformats.org/drawingml/2006/table">
            <a:tbl>
              <a:tblPr/>
              <a:tblGrid>
                <a:gridCol w="3406775"/>
              </a:tblGrid>
              <a:tr h="2345690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图片 6"/>
          <p:cNvPicPr/>
          <p:nvPr/>
        </p:nvPicPr>
        <p:blipFill>
          <a:blip r:embed="rId2"/>
        </p:blipFill>
        <p:spPr>
          <a:xfrm>
            <a:off x="283845" y="2219325"/>
            <a:ext cx="2657475" cy="2940685"/>
          </a:xfrm>
          <a:prstGeom prst="rect">
            <a:avLst/>
          </a:prstGeom>
        </p:spPr>
      </p:pic>
      <p:graphicFrame>
        <p:nvGraphicFramePr>
          <p:cNvPr id="12" name="表格 11"/>
          <p:cNvGraphicFramePr/>
          <p:nvPr/>
        </p:nvGraphicFramePr>
        <p:xfrm>
          <a:off x="5753100" y="2977198"/>
          <a:ext cx="685800" cy="903605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903605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3" name="图片 12"/>
          <p:cNvPicPr/>
          <p:nvPr/>
        </p:nvPicPr>
        <p:blipFill>
          <a:blip r:embed="rId3"/>
        </p:blipFill>
        <p:spPr>
          <a:xfrm>
            <a:off x="3148330" y="2399665"/>
            <a:ext cx="2648585" cy="2760345"/>
          </a:xfrm>
          <a:prstGeom prst="rect">
            <a:avLst/>
          </a:prstGeom>
        </p:spPr>
      </p:pic>
      <p:graphicFrame>
        <p:nvGraphicFramePr>
          <p:cNvPr id="18" name="表格 17"/>
          <p:cNvGraphicFramePr/>
          <p:nvPr>
            <p:custDataLst>
              <p:tags r:id="rId4"/>
            </p:custDataLst>
          </p:nvPr>
        </p:nvGraphicFramePr>
        <p:xfrm>
          <a:off x="170815" y="5160010"/>
          <a:ext cx="2628265" cy="1697355"/>
        </p:xfrm>
        <a:graphic>
          <a:graphicData uri="http://schemas.openxmlformats.org/drawingml/2006/table">
            <a:tbl>
              <a:tblPr/>
              <a:tblGrid>
                <a:gridCol w="2628265"/>
              </a:tblGrid>
              <a:tr h="169735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8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5"/>
                        </a:rPr>
                        <a:t>https://es.shein.com/Artur-Kramer-Manfinity-Streetrush-Men-s-Skeleton-Print-Pocket-Casual-Vest-Vacation-Halloween-Summer-Autumn-Outing-Streetwear-Vest-Gift-Weighted-Vest-For-Friends-Husband-Boyfriend-Streetwear-For-Men-Men-Vest-Jacket-Men-s-Casual-Skull-Print-Pattern-Colorful-Vest-Vest-Jacket-Loose-Vest-INS-Best-Seller-Men-s-Street-Fashion-Loose-Vest-Casual-Vest-Men-s-Vest-Jacket-Men-s-Clothing-Suit-Men-s-Fashion-Clothing-Suitable-For-Gifts-For-Boyfriends-Street-Vest-Streetwear-For-Going-Out-p-441102785.html</a:t>
                      </a:r>
                      <a:endParaRPr lang="en-US" altLang="zh-CN" sz="8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5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表格 19"/>
          <p:cNvGraphicFramePr/>
          <p:nvPr>
            <p:custDataLst>
              <p:tags r:id="rId6"/>
            </p:custDataLst>
          </p:nvPr>
        </p:nvGraphicFramePr>
        <p:xfrm>
          <a:off x="3018790" y="5248910"/>
          <a:ext cx="2748915" cy="1445260"/>
        </p:xfrm>
        <a:graphic>
          <a:graphicData uri="http://schemas.openxmlformats.org/drawingml/2006/table">
            <a:tbl>
              <a:tblPr/>
              <a:tblGrid>
                <a:gridCol w="2748915"/>
              </a:tblGrid>
              <a:tr h="1445260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7"/>
                        </a:rPr>
                        <a:t>https://www.shein.co.uk/Manfinity-Unisex-Locker-sitzende-Herren-Weste-mit-Buchstaben-Patch-und-Klapptasche-(ohne-T-Shirt),-Herbst,-Winter,-Paar-Accessoires-p-21417059-cat-6277.html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7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5753100" y="2899410"/>
          <a:ext cx="685800" cy="1059180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1059180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8" name="图片 7"/>
          <p:cNvPicPr/>
          <p:nvPr/>
        </p:nvPicPr>
        <p:blipFill>
          <a:blip r:embed="rId8"/>
        </p:blipFill>
        <p:spPr>
          <a:xfrm>
            <a:off x="6111875" y="1729105"/>
            <a:ext cx="2678430" cy="3431540"/>
          </a:xfrm>
          <a:prstGeom prst="rect">
            <a:avLst/>
          </a:prstGeom>
        </p:spPr>
      </p:pic>
      <p:graphicFrame>
        <p:nvGraphicFramePr>
          <p:cNvPr id="9" name="表格 8"/>
          <p:cNvGraphicFramePr/>
          <p:nvPr>
            <p:custDataLst>
              <p:tags r:id="rId9"/>
            </p:custDataLst>
          </p:nvPr>
        </p:nvGraphicFramePr>
        <p:xfrm>
          <a:off x="6438900" y="5563235"/>
          <a:ext cx="1811655" cy="529590"/>
        </p:xfrm>
        <a:graphic>
          <a:graphicData uri="http://schemas.openxmlformats.org/drawingml/2006/table">
            <a:tbl>
              <a:tblPr/>
              <a:tblGrid>
                <a:gridCol w="1811655"/>
              </a:tblGrid>
              <a:tr h="529590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8000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10"/>
                        </a:rPr>
                        <a:t>https://www.amazon.de/dp/B07LG95Y5V</a:t>
                      </a:r>
                      <a:endParaRPr lang="en-US" altLang="zh-CN" sz="1100" b="0" i="0" u="sng">
                        <a:solidFill>
                          <a:srgbClr val="8000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10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5753100" y="2919730"/>
          <a:ext cx="685800" cy="1018540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1018540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9" name="图片 18"/>
          <p:cNvPicPr/>
          <p:nvPr/>
        </p:nvPicPr>
        <p:blipFill>
          <a:blip r:embed="rId11"/>
        </p:blipFill>
        <p:spPr>
          <a:xfrm>
            <a:off x="9105265" y="1791970"/>
            <a:ext cx="2333625" cy="3275330"/>
          </a:xfrm>
          <a:prstGeom prst="rect">
            <a:avLst/>
          </a:prstGeom>
        </p:spPr>
      </p:pic>
      <p:graphicFrame>
        <p:nvGraphicFramePr>
          <p:cNvPr id="23" name="表格 22"/>
          <p:cNvGraphicFramePr/>
          <p:nvPr>
            <p:custDataLst>
              <p:tags r:id="rId12"/>
            </p:custDataLst>
          </p:nvPr>
        </p:nvGraphicFramePr>
        <p:xfrm>
          <a:off x="9317355" y="5429885"/>
          <a:ext cx="1908810" cy="509270"/>
        </p:xfrm>
        <a:graphic>
          <a:graphicData uri="http://schemas.openxmlformats.org/drawingml/2006/table">
            <a:tbl>
              <a:tblPr/>
              <a:tblGrid>
                <a:gridCol w="1908810"/>
              </a:tblGrid>
              <a:tr h="509270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8000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13" tooltip="https://www.amazon.de/dp/B07V1PMKVC"/>
                        </a:rPr>
                        <a:t>https://www.amazon.de/dp/B07V1PMKVC</a:t>
                      </a:r>
                      <a:endParaRPr lang="en-US" altLang="zh-CN" sz="1100" b="0" i="0" u="sng">
                        <a:solidFill>
                          <a:srgbClr val="8000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13" tooltip="https://www.amazon.de/dp/B07V1PMKVC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55245"/>
            <a:ext cx="8596630" cy="1591310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男士单马甲</a:t>
            </a:r>
            <a:br>
              <a:rPr lang="en-US" altLang="zh-CN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功能性</a:t>
            </a:r>
            <a:r>
              <a:rPr lang="en-US" altLang="zh-CN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(</a:t>
            </a: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热</a:t>
            </a:r>
            <a:r>
              <a:rPr lang="en-US" altLang="zh-CN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/</a:t>
            </a: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冷）</a:t>
            </a:r>
            <a:endParaRPr lang="zh-CN" altLang="en-US" sz="5400" dirty="0">
              <a:solidFill>
                <a:schemeClr val="tx1"/>
              </a:solidFill>
              <a:highlight>
                <a:srgbClr val="FFFF00"/>
              </a:highligh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860796" y="4574469"/>
            <a:ext cx="304800" cy="30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表格 2"/>
          <p:cNvGraphicFramePr/>
          <p:nvPr/>
        </p:nvGraphicFramePr>
        <p:xfrm>
          <a:off x="5753100" y="2863850"/>
          <a:ext cx="685800" cy="1130300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1130300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4" name="图片 3"/>
          <p:cNvPicPr/>
          <p:nvPr/>
        </p:nvPicPr>
        <p:blipFill>
          <a:blip r:embed="rId1"/>
        </p:blipFill>
        <p:spPr>
          <a:xfrm>
            <a:off x="0" y="2513330"/>
            <a:ext cx="2173605" cy="2687955"/>
          </a:xfrm>
          <a:prstGeom prst="rect">
            <a:avLst/>
          </a:prstGeom>
        </p:spPr>
      </p:pic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0" y="5287010"/>
          <a:ext cx="1870075" cy="558165"/>
        </p:xfrm>
        <a:graphic>
          <a:graphicData uri="http://schemas.openxmlformats.org/drawingml/2006/table">
            <a:tbl>
              <a:tblPr/>
              <a:tblGrid>
                <a:gridCol w="1870075"/>
              </a:tblGrid>
              <a:tr h="55816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3"/>
                        </a:rPr>
                        <a:t>https://www.aliexpress.com/item/1005008077733003.html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3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5753100" y="3086100"/>
          <a:ext cx="685800" cy="685800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685800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图片 6"/>
          <p:cNvPicPr/>
          <p:nvPr/>
        </p:nvPicPr>
        <p:blipFill>
          <a:blip r:embed="rId4"/>
        </p:blipFill>
        <p:spPr>
          <a:xfrm>
            <a:off x="2395220" y="2623820"/>
            <a:ext cx="2103755" cy="2577465"/>
          </a:xfrm>
          <a:prstGeom prst="rect">
            <a:avLst/>
          </a:prstGeom>
        </p:spPr>
      </p:pic>
      <p:graphicFrame>
        <p:nvGraphicFramePr>
          <p:cNvPr id="8" name="表格 7"/>
          <p:cNvGraphicFramePr/>
          <p:nvPr>
            <p:custDataLst>
              <p:tags r:id="rId5"/>
            </p:custDataLst>
          </p:nvPr>
        </p:nvGraphicFramePr>
        <p:xfrm>
          <a:off x="2395220" y="5287010"/>
          <a:ext cx="1796415" cy="558165"/>
        </p:xfrm>
        <a:graphic>
          <a:graphicData uri="http://schemas.openxmlformats.org/drawingml/2006/table">
            <a:tbl>
              <a:tblPr/>
              <a:tblGrid>
                <a:gridCol w="1796415"/>
              </a:tblGrid>
              <a:tr h="55816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6"/>
                        </a:rPr>
                        <a:t>https://www.aliexpress.com/item/1005006269056940.html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6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5753100" y="3086100"/>
          <a:ext cx="685800" cy="685800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685800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" name="图片 9"/>
          <p:cNvPicPr/>
          <p:nvPr/>
        </p:nvPicPr>
        <p:blipFill>
          <a:blip r:embed="rId7"/>
        </p:blipFill>
        <p:spPr>
          <a:xfrm>
            <a:off x="7263130" y="2874645"/>
            <a:ext cx="2064385" cy="2256790"/>
          </a:xfrm>
          <a:prstGeom prst="rect">
            <a:avLst/>
          </a:prstGeom>
        </p:spPr>
      </p:pic>
      <p:graphicFrame>
        <p:nvGraphicFramePr>
          <p:cNvPr id="12" name="表格 11"/>
          <p:cNvGraphicFramePr/>
          <p:nvPr>
            <p:custDataLst>
              <p:tags r:id="rId8"/>
            </p:custDataLst>
          </p:nvPr>
        </p:nvGraphicFramePr>
        <p:xfrm>
          <a:off x="7437120" y="5287010"/>
          <a:ext cx="1540510" cy="390525"/>
        </p:xfrm>
        <a:graphic>
          <a:graphicData uri="http://schemas.openxmlformats.org/drawingml/2006/table">
            <a:tbl>
              <a:tblPr/>
              <a:tblGrid>
                <a:gridCol w="1540510"/>
              </a:tblGrid>
              <a:tr h="322580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9"/>
                        </a:rPr>
                        <a:t>https://www.amazon.com/dp/B0GT7YDFCY?th=1</a:t>
                      </a:r>
                      <a:endParaRPr lang="en-US" altLang="zh-CN" sz="1100" b="0" i="0" u="sng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9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/>
          <p:nvPr/>
        </p:nvGraphicFramePr>
        <p:xfrm>
          <a:off x="5753100" y="3094673"/>
          <a:ext cx="685800" cy="668655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668655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4" name="图片 13"/>
          <p:cNvPicPr/>
          <p:nvPr/>
        </p:nvPicPr>
        <p:blipFill>
          <a:blip r:embed="rId10"/>
        </p:blipFill>
        <p:spPr>
          <a:xfrm>
            <a:off x="4720590" y="2864485"/>
            <a:ext cx="2301240" cy="2422525"/>
          </a:xfrm>
          <a:prstGeom prst="rect">
            <a:avLst/>
          </a:prstGeom>
        </p:spPr>
      </p:pic>
      <p:graphicFrame>
        <p:nvGraphicFramePr>
          <p:cNvPr id="15" name="表格 14"/>
          <p:cNvGraphicFramePr/>
          <p:nvPr>
            <p:custDataLst>
              <p:tags r:id="rId11"/>
            </p:custDataLst>
          </p:nvPr>
        </p:nvGraphicFramePr>
        <p:xfrm>
          <a:off x="4716780" y="5287010"/>
          <a:ext cx="2019300" cy="390525"/>
        </p:xfrm>
        <a:graphic>
          <a:graphicData uri="http://schemas.openxmlformats.org/drawingml/2006/table">
            <a:tbl>
              <a:tblPr/>
              <a:tblGrid>
                <a:gridCol w="2019300"/>
              </a:tblGrid>
              <a:tr h="39052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12"/>
                        </a:rPr>
                        <a:t>https://www.amazon.de/dp/B0H3V81PTK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1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7" name="图片 16"/>
          <p:cNvPicPr/>
          <p:nvPr/>
        </p:nvPicPr>
        <p:blipFill>
          <a:blip r:embed="rId13"/>
        </p:blipFill>
        <p:spPr>
          <a:xfrm>
            <a:off x="9568815" y="2623820"/>
            <a:ext cx="2343150" cy="2507615"/>
          </a:xfrm>
          <a:prstGeom prst="rect">
            <a:avLst/>
          </a:prstGeom>
        </p:spPr>
      </p:pic>
      <p:graphicFrame>
        <p:nvGraphicFramePr>
          <p:cNvPr id="18" name="表格 17"/>
          <p:cNvGraphicFramePr/>
          <p:nvPr>
            <p:custDataLst>
              <p:tags r:id="rId14"/>
            </p:custDataLst>
          </p:nvPr>
        </p:nvGraphicFramePr>
        <p:xfrm>
          <a:off x="9902190" y="5287010"/>
          <a:ext cx="1675765" cy="1061085"/>
        </p:xfrm>
        <a:graphic>
          <a:graphicData uri="http://schemas.openxmlformats.org/drawingml/2006/table">
            <a:tbl>
              <a:tblPr/>
              <a:tblGrid>
                <a:gridCol w="1675765"/>
              </a:tblGrid>
              <a:tr h="106108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8000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15" tooltip="https://www.coupang.com/vp/products/9507854615?itemId=28331147768&amp;vendorItemId=95407461565&amp;sourceType=CATEGORY&amp;categoryId=564927"/>
                        </a:rPr>
                        <a:t>https://www.coupang.com/vp/products/9507854615?itemId=28331147768&amp;vendorItemId=95407461565&amp;sourceType=CATEGORY&amp;categoryId=564927</a:t>
                      </a:r>
                      <a:endParaRPr lang="en-US" altLang="zh-CN" sz="1100" b="0" i="0" u="sng">
                        <a:solidFill>
                          <a:srgbClr val="8000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15" tooltip="https://www.coupang.com/vp/products/9507854615?itemId=28331147768&amp;vendorItemId=95407461565&amp;sourceType=CATEGORY&amp;categoryId=564927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0842" y="55258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男士单马甲</a:t>
            </a:r>
            <a:br>
              <a:rPr lang="en-US" altLang="zh-CN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御寒</a:t>
            </a:r>
            <a:endParaRPr lang="zh-CN" altLang="en-US" sz="5400" dirty="0">
              <a:solidFill>
                <a:schemeClr val="tx1"/>
              </a:solidFill>
              <a:highlight>
                <a:srgbClr val="FFFF00"/>
              </a:highligh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860796" y="4574469"/>
            <a:ext cx="304800" cy="30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表格 2"/>
          <p:cNvGraphicFramePr/>
          <p:nvPr/>
        </p:nvGraphicFramePr>
        <p:xfrm>
          <a:off x="5753100" y="2883535"/>
          <a:ext cx="685800" cy="1090930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1090930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4" name="图片 3"/>
          <p:cNvPicPr/>
          <p:nvPr/>
        </p:nvPicPr>
        <p:blipFill>
          <a:blip r:embed="rId1"/>
        </p:blipFill>
        <p:spPr>
          <a:xfrm>
            <a:off x="635635" y="1894840"/>
            <a:ext cx="2807970" cy="3672840"/>
          </a:xfrm>
          <a:prstGeom prst="rect">
            <a:avLst/>
          </a:prstGeom>
        </p:spPr>
      </p:pic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780415" y="5878830"/>
          <a:ext cx="2519045" cy="528320"/>
        </p:xfrm>
        <a:graphic>
          <a:graphicData uri="http://schemas.openxmlformats.org/drawingml/2006/table">
            <a:tbl>
              <a:tblPr/>
              <a:tblGrid>
                <a:gridCol w="2519045"/>
              </a:tblGrid>
              <a:tr h="528320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8000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3"/>
                        </a:rPr>
                        <a:t>https://www.amazon.de/dp/B019OEHWJY</a:t>
                      </a:r>
                      <a:endParaRPr lang="en-US" altLang="zh-CN" sz="1100" b="0" i="0" u="sng">
                        <a:solidFill>
                          <a:srgbClr val="8000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3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5753100" y="2874327"/>
          <a:ext cx="685800" cy="1109345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1109345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图片 6"/>
          <p:cNvPicPr/>
          <p:nvPr/>
        </p:nvPicPr>
        <p:blipFill>
          <a:blip r:embed="rId4"/>
        </p:blipFill>
        <p:spPr>
          <a:xfrm>
            <a:off x="4568825" y="1691005"/>
            <a:ext cx="2653665" cy="3726180"/>
          </a:xfrm>
          <a:prstGeom prst="rect">
            <a:avLst/>
          </a:prstGeom>
        </p:spPr>
      </p:pic>
      <p:graphicFrame>
        <p:nvGraphicFramePr>
          <p:cNvPr id="8" name="表格 7"/>
          <p:cNvGraphicFramePr/>
          <p:nvPr>
            <p:custDataLst>
              <p:tags r:id="rId5"/>
            </p:custDataLst>
          </p:nvPr>
        </p:nvGraphicFramePr>
        <p:xfrm>
          <a:off x="4769485" y="5732145"/>
          <a:ext cx="2252980" cy="1022985"/>
        </p:xfrm>
        <a:graphic>
          <a:graphicData uri="http://schemas.openxmlformats.org/drawingml/2006/table">
            <a:tbl>
              <a:tblPr/>
              <a:tblGrid>
                <a:gridCol w="2252980"/>
              </a:tblGrid>
              <a:tr h="102298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6"/>
                        </a:rPr>
                        <a:t>https://www.amazon.de/dp/B0GCZPH1YS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6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" name="图片 9"/>
          <p:cNvPicPr/>
          <p:nvPr/>
        </p:nvPicPr>
        <p:blipFill>
          <a:blip r:embed="rId7"/>
        </p:blipFill>
        <p:spPr>
          <a:xfrm>
            <a:off x="8347710" y="1451610"/>
            <a:ext cx="2514600" cy="4040505"/>
          </a:xfrm>
          <a:prstGeom prst="rect">
            <a:avLst/>
          </a:prstGeom>
        </p:spPr>
      </p:pic>
      <p:graphicFrame>
        <p:nvGraphicFramePr>
          <p:cNvPr id="12" name="表格 11"/>
          <p:cNvGraphicFramePr/>
          <p:nvPr>
            <p:custDataLst>
              <p:tags r:id="rId8"/>
            </p:custDataLst>
          </p:nvPr>
        </p:nvGraphicFramePr>
        <p:xfrm>
          <a:off x="8347710" y="5567680"/>
          <a:ext cx="2647315" cy="1129030"/>
        </p:xfrm>
        <a:graphic>
          <a:graphicData uri="http://schemas.openxmlformats.org/drawingml/2006/table">
            <a:tbl>
              <a:tblPr/>
              <a:tblGrid>
                <a:gridCol w="2647315"/>
              </a:tblGrid>
              <a:tr h="1129030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8000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9"/>
                        </a:rPr>
                        <a:t>https://www.amazon.de/dp/B07D5R37M2</a:t>
                      </a:r>
                      <a:endParaRPr lang="en-US" altLang="zh-CN" sz="1100" b="0" i="0" u="sng">
                        <a:solidFill>
                          <a:srgbClr val="8000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9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55245"/>
            <a:ext cx="8596630" cy="1611630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男士休闲运动风衣、夹克</a:t>
            </a:r>
            <a:br>
              <a:rPr lang="en-US" altLang="zh-CN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颜色拼接</a:t>
            </a:r>
            <a:endParaRPr lang="zh-CN" altLang="en-US" sz="5400" dirty="0">
              <a:solidFill>
                <a:schemeClr val="tx1"/>
              </a:solidFill>
              <a:highlight>
                <a:srgbClr val="FFFF00"/>
              </a:highligh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860796" y="4574469"/>
            <a:ext cx="304800" cy="30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表格 2"/>
          <p:cNvGraphicFramePr/>
          <p:nvPr/>
        </p:nvGraphicFramePr>
        <p:xfrm>
          <a:off x="5753100" y="2977198"/>
          <a:ext cx="685800" cy="903605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903605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5753100" y="2976563"/>
          <a:ext cx="685800" cy="904875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904875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5753100" y="2977198"/>
          <a:ext cx="685800" cy="903605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903605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" name="图片 9"/>
          <p:cNvPicPr/>
          <p:nvPr/>
        </p:nvPicPr>
        <p:blipFill>
          <a:blip r:embed="rId1"/>
        </p:blipFill>
        <p:spPr>
          <a:xfrm>
            <a:off x="4011930" y="2280285"/>
            <a:ext cx="1821180" cy="2294255"/>
          </a:xfrm>
          <a:prstGeom prst="rect">
            <a:avLst/>
          </a:prstGeom>
        </p:spPr>
      </p:pic>
      <p:graphicFrame>
        <p:nvGraphicFramePr>
          <p:cNvPr id="12" name="表格 11"/>
          <p:cNvGraphicFramePr/>
          <p:nvPr>
            <p:custDataLst>
              <p:tags r:id="rId2"/>
            </p:custDataLst>
          </p:nvPr>
        </p:nvGraphicFramePr>
        <p:xfrm>
          <a:off x="4075430" y="4958715"/>
          <a:ext cx="1677670" cy="1218565"/>
        </p:xfrm>
        <a:graphic>
          <a:graphicData uri="http://schemas.openxmlformats.org/drawingml/2006/table">
            <a:tbl>
              <a:tblPr/>
              <a:tblGrid>
                <a:gridCol w="1677670"/>
              </a:tblGrid>
              <a:tr h="121856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3"/>
                        </a:rPr>
                        <a:t>https://us.shein.com/ROMWE-MEN-Street-Life-Unisex-Patchwork-Street-Style-American-Jacket,-Autumn/Winter-p-314547498.html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3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/>
          <p:nvPr/>
        </p:nvGraphicFramePr>
        <p:xfrm>
          <a:off x="5753100" y="2977198"/>
          <a:ext cx="685800" cy="903605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903605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4" name="图片 13"/>
          <p:cNvPicPr/>
          <p:nvPr/>
        </p:nvPicPr>
        <p:blipFill>
          <a:blip r:embed="rId4"/>
        </p:blipFill>
        <p:spPr>
          <a:xfrm>
            <a:off x="5937250" y="2280285"/>
            <a:ext cx="1905635" cy="2293620"/>
          </a:xfrm>
          <a:prstGeom prst="rect">
            <a:avLst/>
          </a:prstGeom>
        </p:spPr>
      </p:pic>
      <p:graphicFrame>
        <p:nvGraphicFramePr>
          <p:cNvPr id="15" name="表格 14"/>
          <p:cNvGraphicFramePr/>
          <p:nvPr>
            <p:custDataLst>
              <p:tags r:id="rId5"/>
            </p:custDataLst>
          </p:nvPr>
        </p:nvGraphicFramePr>
        <p:xfrm>
          <a:off x="5951855" y="4879340"/>
          <a:ext cx="1842770" cy="1396365"/>
        </p:xfrm>
        <a:graphic>
          <a:graphicData uri="http://schemas.openxmlformats.org/drawingml/2006/table">
            <a:tbl>
              <a:tblPr/>
              <a:tblGrid>
                <a:gridCol w="1842770"/>
              </a:tblGrid>
              <a:tr h="139636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6"/>
                        </a:rPr>
                        <a:t>https://us.shein.com/ROMWE-MEN-Street-Life-Men's-Jacket-And-Coat-Autumn/Winter-Design-Patchwork-Street-Style-American-Jacket-Coat-Unisex-p-499238692-cat-1983.html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6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/>
          <p:nvPr/>
        </p:nvGraphicFramePr>
        <p:xfrm>
          <a:off x="5753100" y="2977198"/>
          <a:ext cx="685800" cy="903605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903605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/>
          <p:nvPr/>
        </p:nvGraphicFramePr>
        <p:xfrm>
          <a:off x="5753100" y="2977198"/>
          <a:ext cx="685800" cy="903605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903605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0" name="图片 19"/>
          <p:cNvPicPr/>
          <p:nvPr/>
        </p:nvPicPr>
        <p:blipFill>
          <a:blip r:embed="rId7"/>
        </p:blipFill>
        <p:spPr>
          <a:xfrm>
            <a:off x="90170" y="2280920"/>
            <a:ext cx="1644015" cy="2293620"/>
          </a:xfrm>
          <a:prstGeom prst="rect">
            <a:avLst/>
          </a:prstGeom>
        </p:spPr>
      </p:pic>
      <p:graphicFrame>
        <p:nvGraphicFramePr>
          <p:cNvPr id="21" name="表格 20"/>
          <p:cNvGraphicFramePr/>
          <p:nvPr>
            <p:custDataLst>
              <p:tags r:id="rId8"/>
            </p:custDataLst>
          </p:nvPr>
        </p:nvGraphicFramePr>
        <p:xfrm>
          <a:off x="90170" y="4879340"/>
          <a:ext cx="1560830" cy="1377315"/>
        </p:xfrm>
        <a:graphic>
          <a:graphicData uri="http://schemas.openxmlformats.org/drawingml/2006/table">
            <a:tbl>
              <a:tblPr/>
              <a:tblGrid>
                <a:gridCol w="1560830"/>
              </a:tblGrid>
              <a:tr h="137731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9"/>
                        </a:rPr>
                        <a:t>https://us.shein.com/Manfinity-EMRG-Men's-Contrast-Color-Zipper-High-Collar-Casual-Long-Sleeve-Jacket-p-196975515.html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9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" name="表格 21"/>
          <p:cNvGraphicFramePr/>
          <p:nvPr/>
        </p:nvGraphicFramePr>
        <p:xfrm>
          <a:off x="5753100" y="2977515"/>
          <a:ext cx="685800" cy="902970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902970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3" name="图片 22"/>
          <p:cNvPicPr/>
          <p:nvPr/>
        </p:nvPicPr>
        <p:blipFill>
          <a:blip r:embed="rId10"/>
        </p:blipFill>
        <p:spPr>
          <a:xfrm>
            <a:off x="1896110" y="2280285"/>
            <a:ext cx="1953895" cy="2294255"/>
          </a:xfrm>
          <a:prstGeom prst="rect">
            <a:avLst/>
          </a:prstGeom>
        </p:spPr>
      </p:pic>
      <p:graphicFrame>
        <p:nvGraphicFramePr>
          <p:cNvPr id="24" name="表格 23"/>
          <p:cNvGraphicFramePr/>
          <p:nvPr>
            <p:custDataLst>
              <p:tags r:id="rId11"/>
            </p:custDataLst>
          </p:nvPr>
        </p:nvGraphicFramePr>
        <p:xfrm>
          <a:off x="1973580" y="4958715"/>
          <a:ext cx="1862455" cy="1061085"/>
        </p:xfrm>
        <a:graphic>
          <a:graphicData uri="http://schemas.openxmlformats.org/drawingml/2006/table">
            <a:tbl>
              <a:tblPr/>
              <a:tblGrid>
                <a:gridCol w="1862455"/>
              </a:tblGrid>
              <a:tr h="106108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12"/>
                        </a:rPr>
                        <a:t>https://us.shein.com/Manfinity-Sporsity-Loose-Fit-Men's-Letter-Printed-Patched-Jacket-(Hoodie-Not-Included)-p-25940145-cat-1983.html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1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表格 24"/>
          <p:cNvGraphicFramePr/>
          <p:nvPr/>
        </p:nvGraphicFramePr>
        <p:xfrm>
          <a:off x="5753100" y="2977198"/>
          <a:ext cx="685800" cy="903605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903605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6" name="图片 25"/>
          <p:cNvPicPr/>
          <p:nvPr/>
        </p:nvPicPr>
        <p:blipFill>
          <a:blip r:embed="rId13"/>
        </p:blipFill>
        <p:spPr>
          <a:xfrm>
            <a:off x="7947025" y="2280285"/>
            <a:ext cx="1964690" cy="2292985"/>
          </a:xfrm>
          <a:prstGeom prst="rect">
            <a:avLst/>
          </a:prstGeom>
        </p:spPr>
      </p:pic>
      <p:graphicFrame>
        <p:nvGraphicFramePr>
          <p:cNvPr id="27" name="表格 26"/>
          <p:cNvGraphicFramePr/>
          <p:nvPr>
            <p:custDataLst>
              <p:tags r:id="rId14"/>
            </p:custDataLst>
          </p:nvPr>
        </p:nvGraphicFramePr>
        <p:xfrm>
          <a:off x="8150860" y="4712970"/>
          <a:ext cx="1615440" cy="1710055"/>
        </p:xfrm>
        <a:graphic>
          <a:graphicData uri="http://schemas.openxmlformats.org/drawingml/2006/table">
            <a:tbl>
              <a:tblPr/>
              <a:tblGrid>
                <a:gridCol w="1615440"/>
              </a:tblGrid>
              <a:tr h="171005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15"/>
                        </a:rPr>
                        <a:t>https://us.shein.com/ROMWE-MEN-Prep-Men's-Contrast-Color-Graffiti-Pattern-Zip-Up-Long-Sleeve-Jacket-p-227158496.html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15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8" name="表格 27"/>
          <p:cNvGraphicFramePr/>
          <p:nvPr/>
        </p:nvGraphicFramePr>
        <p:xfrm>
          <a:off x="5753100" y="3086100"/>
          <a:ext cx="685800" cy="685800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685800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9" name="图片 28"/>
          <p:cNvPicPr/>
          <p:nvPr/>
        </p:nvPicPr>
        <p:blipFill>
          <a:blip r:embed="rId16"/>
        </p:blipFill>
        <p:spPr>
          <a:xfrm>
            <a:off x="10015855" y="2280285"/>
            <a:ext cx="2012950" cy="2293620"/>
          </a:xfrm>
          <a:prstGeom prst="rect">
            <a:avLst/>
          </a:prstGeom>
        </p:spPr>
      </p:pic>
      <p:graphicFrame>
        <p:nvGraphicFramePr>
          <p:cNvPr id="30" name="表格 29"/>
          <p:cNvGraphicFramePr/>
          <p:nvPr>
            <p:custDataLst>
              <p:tags r:id="rId17"/>
            </p:custDataLst>
          </p:nvPr>
        </p:nvGraphicFramePr>
        <p:xfrm>
          <a:off x="10285730" y="4879340"/>
          <a:ext cx="1482090" cy="1298575"/>
        </p:xfrm>
        <a:graphic>
          <a:graphicData uri="http://schemas.openxmlformats.org/drawingml/2006/table">
            <a:tbl>
              <a:tblPr/>
              <a:tblGrid>
                <a:gridCol w="1482090"/>
              </a:tblGrid>
              <a:tr h="129857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18"/>
                        </a:rPr>
                        <a:t>https://ko.aliexpress.com/item/1005007646838856.html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18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55245"/>
            <a:ext cx="8596630" cy="1572260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sym typeface="+mn-ea"/>
              </a:rPr>
              <a:t>男士休闲运动风衣、夹克</a:t>
            </a:r>
            <a:br>
              <a:rPr lang="en-US" altLang="zh-CN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素色</a:t>
            </a:r>
            <a:endParaRPr lang="zh-CN" altLang="en-US" sz="54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860796" y="4574469"/>
            <a:ext cx="304800" cy="30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表格 2"/>
          <p:cNvGraphicFramePr/>
          <p:nvPr/>
        </p:nvGraphicFramePr>
        <p:xfrm>
          <a:off x="5753100" y="2977198"/>
          <a:ext cx="685800" cy="903605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903605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4" name="图片 3"/>
          <p:cNvPicPr/>
          <p:nvPr/>
        </p:nvPicPr>
        <p:blipFill>
          <a:blip r:embed="rId1"/>
        </p:blipFill>
        <p:spPr>
          <a:xfrm>
            <a:off x="113030" y="2056765"/>
            <a:ext cx="2593975" cy="3230880"/>
          </a:xfrm>
          <a:prstGeom prst="rect">
            <a:avLst/>
          </a:prstGeom>
        </p:spPr>
      </p:pic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381000" y="5421630"/>
          <a:ext cx="1855470" cy="1282065"/>
        </p:xfrm>
        <a:graphic>
          <a:graphicData uri="http://schemas.openxmlformats.org/drawingml/2006/table">
            <a:tbl>
              <a:tblPr/>
              <a:tblGrid>
                <a:gridCol w="1855470"/>
              </a:tblGrid>
              <a:tr h="128206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3"/>
                        </a:rPr>
                        <a:t>https://us.shein.com/Manfinity-ZONE917-Men's-Casual-Fashion-Street-College-Sports-Letter-Print-Contrast-Piping-Stand-Collar-Zip-Up-Jacket,-Autumn-p-188771772.html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3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5753100" y="2977198"/>
          <a:ext cx="685800" cy="903605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903605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图片 6"/>
          <p:cNvPicPr/>
          <p:nvPr/>
        </p:nvPicPr>
        <p:blipFill>
          <a:blip r:embed="rId4"/>
        </p:blipFill>
        <p:spPr>
          <a:xfrm>
            <a:off x="2816225" y="2056765"/>
            <a:ext cx="2633980" cy="3230880"/>
          </a:xfrm>
          <a:prstGeom prst="rect">
            <a:avLst/>
          </a:prstGeom>
        </p:spPr>
      </p:pic>
      <p:graphicFrame>
        <p:nvGraphicFramePr>
          <p:cNvPr id="8" name="表格 7"/>
          <p:cNvGraphicFramePr/>
          <p:nvPr>
            <p:custDataLst>
              <p:tags r:id="rId5"/>
            </p:custDataLst>
          </p:nvPr>
        </p:nvGraphicFramePr>
        <p:xfrm>
          <a:off x="3329305" y="5293995"/>
          <a:ext cx="1607820" cy="1486535"/>
        </p:xfrm>
        <a:graphic>
          <a:graphicData uri="http://schemas.openxmlformats.org/drawingml/2006/table">
            <a:tbl>
              <a:tblPr/>
              <a:tblGrid>
                <a:gridCol w="1607820"/>
              </a:tblGrid>
              <a:tr h="148653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6"/>
                        </a:rPr>
                        <a:t>https://us.shein.com/Manfinity-INSISELF-Men's-Boxy-Casual-Turndown-Collar-Long-Sleeve-Jacket,-Suitable-For-Autumn/Winter-p-182675673.html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6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5753100" y="2977198"/>
          <a:ext cx="685800" cy="903605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903605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" name="图片 9"/>
          <p:cNvPicPr/>
          <p:nvPr/>
        </p:nvPicPr>
        <p:blipFill>
          <a:blip r:embed="rId7"/>
        </p:blipFill>
        <p:spPr>
          <a:xfrm>
            <a:off x="5665470" y="2056765"/>
            <a:ext cx="2436495" cy="3230880"/>
          </a:xfrm>
          <a:prstGeom prst="rect">
            <a:avLst/>
          </a:prstGeom>
        </p:spPr>
      </p:pic>
      <p:graphicFrame>
        <p:nvGraphicFramePr>
          <p:cNvPr id="12" name="表格 11"/>
          <p:cNvGraphicFramePr/>
          <p:nvPr>
            <p:custDataLst>
              <p:tags r:id="rId8"/>
            </p:custDataLst>
          </p:nvPr>
        </p:nvGraphicFramePr>
        <p:xfrm>
          <a:off x="5665470" y="5216525"/>
          <a:ext cx="2063115" cy="1645920"/>
        </p:xfrm>
        <a:graphic>
          <a:graphicData uri="http://schemas.openxmlformats.org/drawingml/2006/table">
            <a:tbl>
              <a:tblPr/>
              <a:tblGrid>
                <a:gridCol w="2063115"/>
              </a:tblGrid>
              <a:tr h="1645920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9"/>
                        </a:rPr>
                        <a:t>https://us.shein.com/Men's-Casual-Lapel-Jacket,-Sports-Comfortable-Multi-Pocket-Lightweight-Versatile-Outerwear,-Suitable-As-Gift-For-Husband,-Friend,-Boyfriend,-Father-p-424425306-cat-2448.html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9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4" name="图片 13"/>
          <p:cNvPicPr/>
          <p:nvPr/>
        </p:nvPicPr>
        <p:blipFill>
          <a:blip r:embed="rId10"/>
        </p:blipFill>
        <p:spPr>
          <a:xfrm>
            <a:off x="8322310" y="2056765"/>
            <a:ext cx="2720975" cy="3159125"/>
          </a:xfrm>
          <a:prstGeom prst="rect">
            <a:avLst/>
          </a:prstGeom>
        </p:spPr>
      </p:pic>
      <p:graphicFrame>
        <p:nvGraphicFramePr>
          <p:cNvPr id="15" name="表格 14"/>
          <p:cNvGraphicFramePr/>
          <p:nvPr>
            <p:custDataLst>
              <p:tags r:id="rId11"/>
            </p:custDataLst>
          </p:nvPr>
        </p:nvGraphicFramePr>
        <p:xfrm>
          <a:off x="9136380" y="5216525"/>
          <a:ext cx="1093470" cy="1564005"/>
        </p:xfrm>
        <a:graphic>
          <a:graphicData uri="http://schemas.openxmlformats.org/drawingml/2006/table">
            <a:tbl>
              <a:tblPr/>
              <a:tblGrid>
                <a:gridCol w="1093470"/>
              </a:tblGrid>
              <a:tr h="156400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8000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12"/>
                        </a:rPr>
                        <a:t>https://www.coupang.com/vp/products/8679910074?itemId=25197451153&amp;vendorItemId=92194106703&amp;sourceType=CATEGORY&amp;categoryId=564927</a:t>
                      </a:r>
                      <a:endParaRPr lang="en-US" altLang="zh-CN" sz="1100" b="0" i="0" u="sng">
                        <a:solidFill>
                          <a:srgbClr val="8000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1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55245"/>
            <a:ext cx="8596630" cy="1572260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sym typeface="+mn-ea"/>
              </a:rPr>
              <a:t>男士休闲运动风衣、夹克</a:t>
            </a:r>
            <a:br>
              <a:rPr lang="en-US" altLang="zh-CN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街头风格</a:t>
            </a:r>
            <a:endParaRPr lang="zh-CN" altLang="en-US" sz="5400" dirty="0">
              <a:solidFill>
                <a:schemeClr val="tx1"/>
              </a:solidFill>
              <a:highlight>
                <a:srgbClr val="FFFF00"/>
              </a:highligh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860796" y="4574469"/>
            <a:ext cx="304800" cy="30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" name="表格 16"/>
          <p:cNvGraphicFramePr/>
          <p:nvPr/>
        </p:nvGraphicFramePr>
        <p:xfrm>
          <a:off x="5753100" y="2977198"/>
          <a:ext cx="685800" cy="903605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903605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8" name="图片 17"/>
          <p:cNvPicPr/>
          <p:nvPr/>
        </p:nvPicPr>
        <p:blipFill>
          <a:blip r:embed="rId1"/>
        </p:blipFill>
        <p:spPr>
          <a:xfrm>
            <a:off x="66675" y="1950085"/>
            <a:ext cx="2631440" cy="3228975"/>
          </a:xfrm>
          <a:prstGeom prst="rect">
            <a:avLst/>
          </a:prstGeom>
        </p:spPr>
      </p:pic>
      <p:graphicFrame>
        <p:nvGraphicFramePr>
          <p:cNvPr id="19" name="表格 18"/>
          <p:cNvGraphicFramePr/>
          <p:nvPr>
            <p:custDataLst>
              <p:tags r:id="rId2"/>
            </p:custDataLst>
          </p:nvPr>
        </p:nvGraphicFramePr>
        <p:xfrm>
          <a:off x="473075" y="5266055"/>
          <a:ext cx="1620520" cy="1457325"/>
        </p:xfrm>
        <a:graphic>
          <a:graphicData uri="http://schemas.openxmlformats.org/drawingml/2006/table">
            <a:tbl>
              <a:tblPr/>
              <a:tblGrid>
                <a:gridCol w="1620520"/>
              </a:tblGrid>
              <a:tr h="145732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8000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3"/>
                        </a:rPr>
                        <a:t>https://us.shein.com/ROMWE-MEN-Street-Life-Unisex-Leopard-Print---English-Text-Graphic-Patchwork-Fleece-Lined-Jacket,-Autumn/Winter-p-200798388.html</a:t>
                      </a:r>
                      <a:endParaRPr lang="en-US" altLang="zh-CN" sz="1100" b="0" i="0" u="sng">
                        <a:solidFill>
                          <a:srgbClr val="8000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3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表格 19"/>
          <p:cNvGraphicFramePr/>
          <p:nvPr/>
        </p:nvGraphicFramePr>
        <p:xfrm>
          <a:off x="5753100" y="2976563"/>
          <a:ext cx="685800" cy="904875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904875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1" name="图片 20"/>
          <p:cNvPicPr/>
          <p:nvPr/>
        </p:nvPicPr>
        <p:blipFill>
          <a:blip r:embed="rId4"/>
        </p:blipFill>
        <p:spPr>
          <a:xfrm>
            <a:off x="2842895" y="1950085"/>
            <a:ext cx="2621915" cy="3228975"/>
          </a:xfrm>
          <a:prstGeom prst="rect">
            <a:avLst/>
          </a:prstGeom>
        </p:spPr>
      </p:pic>
      <p:graphicFrame>
        <p:nvGraphicFramePr>
          <p:cNvPr id="22" name="表格 21"/>
          <p:cNvGraphicFramePr/>
          <p:nvPr>
            <p:custDataLst>
              <p:tags r:id="rId5"/>
            </p:custDataLst>
          </p:nvPr>
        </p:nvGraphicFramePr>
        <p:xfrm>
          <a:off x="3067050" y="5266055"/>
          <a:ext cx="2053590" cy="1622425"/>
        </p:xfrm>
        <a:graphic>
          <a:graphicData uri="http://schemas.openxmlformats.org/drawingml/2006/table">
            <a:tbl>
              <a:tblPr/>
              <a:tblGrid>
                <a:gridCol w="2053590"/>
              </a:tblGrid>
              <a:tr h="162242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8000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6"/>
                        </a:rPr>
                        <a:t>https://us.shein.com/PAVTROS-Manfinity-Streetrush-Men's-Fashionable-Printed-Long-Sleeve-Jacket-Outerwear-Sports-Jacket-Zip-Up-Jacket-Graphic-Jacket-Racing-Jacket-Sportswear-Jacket,-2000s-Style,Fall-p-149403824-cat-1983.html</a:t>
                      </a:r>
                      <a:endParaRPr lang="en-US" altLang="zh-CN" sz="1100" b="0" i="0" u="sng">
                        <a:solidFill>
                          <a:srgbClr val="8000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6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3" name="表格 22"/>
          <p:cNvGraphicFramePr/>
          <p:nvPr/>
        </p:nvGraphicFramePr>
        <p:xfrm>
          <a:off x="5753100" y="2977198"/>
          <a:ext cx="685800" cy="903605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903605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4" name="图片 23"/>
          <p:cNvPicPr/>
          <p:nvPr/>
        </p:nvPicPr>
        <p:blipFill>
          <a:blip r:embed="rId7"/>
        </p:blipFill>
        <p:spPr>
          <a:xfrm>
            <a:off x="5609590" y="1950085"/>
            <a:ext cx="2658110" cy="3228975"/>
          </a:xfrm>
          <a:prstGeom prst="rect">
            <a:avLst/>
          </a:prstGeom>
        </p:spPr>
      </p:pic>
      <p:graphicFrame>
        <p:nvGraphicFramePr>
          <p:cNvPr id="25" name="表格 24"/>
          <p:cNvGraphicFramePr/>
          <p:nvPr>
            <p:custDataLst>
              <p:tags r:id="rId8"/>
            </p:custDataLst>
          </p:nvPr>
        </p:nvGraphicFramePr>
        <p:xfrm>
          <a:off x="6055360" y="5362575"/>
          <a:ext cx="1765935" cy="1360805"/>
        </p:xfrm>
        <a:graphic>
          <a:graphicData uri="http://schemas.openxmlformats.org/drawingml/2006/table">
            <a:tbl>
              <a:tblPr/>
              <a:tblGrid>
                <a:gridCol w="1765935"/>
              </a:tblGrid>
              <a:tr h="136080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9"/>
                        </a:rPr>
                        <a:t>https://us.shein.com/Manfinity-EMRG-Men's-Figure-Graphic-Long-Sleeve-Zipper-Collar-Casual-Jacket-p-65815610-cat-1983.html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9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6" name="表格 25"/>
          <p:cNvGraphicFramePr/>
          <p:nvPr/>
        </p:nvGraphicFramePr>
        <p:xfrm>
          <a:off x="5753100" y="3086100"/>
          <a:ext cx="685800" cy="685800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685800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7" name="图片 26"/>
          <p:cNvPicPr/>
          <p:nvPr/>
        </p:nvPicPr>
        <p:blipFill>
          <a:blip r:embed="rId10"/>
        </p:blipFill>
        <p:spPr>
          <a:xfrm>
            <a:off x="8291830" y="1950085"/>
            <a:ext cx="2730500" cy="3228340"/>
          </a:xfrm>
          <a:prstGeom prst="rect">
            <a:avLst/>
          </a:prstGeom>
        </p:spPr>
      </p:pic>
      <p:graphicFrame>
        <p:nvGraphicFramePr>
          <p:cNvPr id="28" name="表格 27"/>
          <p:cNvGraphicFramePr/>
          <p:nvPr>
            <p:custDataLst>
              <p:tags r:id="rId11"/>
            </p:custDataLst>
          </p:nvPr>
        </p:nvGraphicFramePr>
        <p:xfrm>
          <a:off x="9130665" y="5266055"/>
          <a:ext cx="1053465" cy="1488440"/>
        </p:xfrm>
        <a:graphic>
          <a:graphicData uri="http://schemas.openxmlformats.org/drawingml/2006/table">
            <a:tbl>
              <a:tblPr/>
              <a:tblGrid>
                <a:gridCol w="1053465"/>
              </a:tblGrid>
              <a:tr h="1488440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12"/>
                        </a:rPr>
                        <a:t>https://es.aliexpress.com/item/1005010645689710.html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1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55245"/>
            <a:ext cx="8596630" cy="1572260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sym typeface="+mn-ea"/>
              </a:rPr>
              <a:t>男士风衣</a:t>
            </a:r>
            <a:b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sym typeface="+mn-ea"/>
              </a:rPr>
            </a:b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潮流款</a:t>
            </a:r>
            <a:br>
              <a:rPr lang="en-US" altLang="zh-CN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endParaRPr lang="en-US" altLang="zh-CN" sz="5400" dirty="0">
              <a:solidFill>
                <a:schemeClr val="tx1"/>
              </a:solidFill>
              <a:highlight>
                <a:srgbClr val="FFFF00"/>
              </a:highligh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860796" y="4574469"/>
            <a:ext cx="304800" cy="30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" name="表格 24"/>
          <p:cNvGraphicFramePr/>
          <p:nvPr/>
        </p:nvGraphicFramePr>
        <p:xfrm>
          <a:off x="5753100" y="2977198"/>
          <a:ext cx="685800" cy="903605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903605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6" name="图片 25"/>
          <p:cNvPicPr/>
          <p:nvPr/>
        </p:nvPicPr>
        <p:blipFill>
          <a:blip r:embed="rId1"/>
        </p:blipFill>
        <p:spPr>
          <a:xfrm>
            <a:off x="381000" y="2221865"/>
            <a:ext cx="2759710" cy="3347085"/>
          </a:xfrm>
          <a:prstGeom prst="rect">
            <a:avLst/>
          </a:prstGeom>
        </p:spPr>
      </p:pic>
      <p:graphicFrame>
        <p:nvGraphicFramePr>
          <p:cNvPr id="27" name="表格 26"/>
          <p:cNvGraphicFramePr/>
          <p:nvPr>
            <p:custDataLst>
              <p:tags r:id="rId2"/>
            </p:custDataLst>
          </p:nvPr>
        </p:nvGraphicFramePr>
        <p:xfrm>
          <a:off x="496570" y="5681345"/>
          <a:ext cx="2528570" cy="1089025"/>
        </p:xfrm>
        <a:graphic>
          <a:graphicData uri="http://schemas.openxmlformats.org/drawingml/2006/table">
            <a:tbl>
              <a:tblPr/>
              <a:tblGrid>
                <a:gridCol w="2528570"/>
              </a:tblGrid>
              <a:tr h="108902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3"/>
                        </a:rPr>
                        <a:t>https://www.shein.com/FeverCity-Men's-Fashion-Punk-Zipper-Jacket,-Fall,-Winter,-Grunge-p-168597190-cat-1983.html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3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8" name="表格 27"/>
          <p:cNvGraphicFramePr/>
          <p:nvPr/>
        </p:nvGraphicFramePr>
        <p:xfrm>
          <a:off x="5753100" y="2977198"/>
          <a:ext cx="685800" cy="903605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903605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9" name="图片 28"/>
          <p:cNvPicPr/>
          <p:nvPr/>
        </p:nvPicPr>
        <p:blipFill>
          <a:blip r:embed="rId4"/>
        </p:blipFill>
        <p:spPr>
          <a:xfrm>
            <a:off x="3407410" y="2221865"/>
            <a:ext cx="2799080" cy="3347085"/>
          </a:xfrm>
          <a:prstGeom prst="rect">
            <a:avLst/>
          </a:prstGeom>
        </p:spPr>
      </p:pic>
      <p:graphicFrame>
        <p:nvGraphicFramePr>
          <p:cNvPr id="30" name="表格 29"/>
          <p:cNvGraphicFramePr/>
          <p:nvPr>
            <p:custDataLst>
              <p:tags r:id="rId5"/>
            </p:custDataLst>
          </p:nvPr>
        </p:nvGraphicFramePr>
        <p:xfrm>
          <a:off x="3561715" y="5608320"/>
          <a:ext cx="2489835" cy="1280795"/>
        </p:xfrm>
        <a:graphic>
          <a:graphicData uri="http://schemas.openxmlformats.org/drawingml/2006/table">
            <a:tbl>
              <a:tblPr/>
              <a:tblGrid>
                <a:gridCol w="2489835"/>
              </a:tblGrid>
              <a:tr h="128079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6"/>
                        </a:rPr>
                        <a:t>https://us.shein.com/PAVTROS-Men's-Letter-Print-Contrast-Color-Long-Sleeve-Frog-Button-Jacket-p-503300905-cat-1983.html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6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1" name="表格 30"/>
          <p:cNvGraphicFramePr/>
          <p:nvPr/>
        </p:nvGraphicFramePr>
        <p:xfrm>
          <a:off x="5753100" y="2977198"/>
          <a:ext cx="685800" cy="903605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903605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2" name="图片 31"/>
          <p:cNvPicPr/>
          <p:nvPr/>
        </p:nvPicPr>
        <p:blipFill>
          <a:blip r:embed="rId7"/>
        </p:blipFill>
        <p:spPr>
          <a:xfrm>
            <a:off x="6429375" y="2221865"/>
            <a:ext cx="2668270" cy="3347085"/>
          </a:xfrm>
          <a:prstGeom prst="rect">
            <a:avLst/>
          </a:prstGeom>
        </p:spPr>
      </p:pic>
      <p:graphicFrame>
        <p:nvGraphicFramePr>
          <p:cNvPr id="33" name="表格 32"/>
          <p:cNvGraphicFramePr/>
          <p:nvPr>
            <p:custDataLst>
              <p:tags r:id="rId8"/>
            </p:custDataLst>
          </p:nvPr>
        </p:nvGraphicFramePr>
        <p:xfrm>
          <a:off x="6697345" y="5608320"/>
          <a:ext cx="2131695" cy="1194435"/>
        </p:xfrm>
        <a:graphic>
          <a:graphicData uri="http://schemas.openxmlformats.org/drawingml/2006/table">
            <a:tbl>
              <a:tblPr/>
              <a:tblGrid>
                <a:gridCol w="2131695"/>
              </a:tblGrid>
              <a:tr h="119443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8000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9"/>
                        </a:rPr>
                        <a:t>https://us.shein.com/ROMWE-MEN-Street-Life-Men's-Turndown-Collar-Single-Breasted-Fashionable-Versatile-Commuter-Long-Sleeve-Jacket-p-309314711.html</a:t>
                      </a:r>
                      <a:endParaRPr lang="en-US" altLang="zh-CN" sz="1100" b="0" i="0" u="sng">
                        <a:solidFill>
                          <a:srgbClr val="8000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9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4" name="表格 33"/>
          <p:cNvGraphicFramePr/>
          <p:nvPr/>
        </p:nvGraphicFramePr>
        <p:xfrm>
          <a:off x="5753100" y="2977198"/>
          <a:ext cx="685800" cy="903605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903605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5" name="图片 34"/>
          <p:cNvPicPr/>
          <p:nvPr/>
        </p:nvPicPr>
        <p:blipFill>
          <a:blip r:embed="rId10"/>
        </p:blipFill>
        <p:spPr>
          <a:xfrm>
            <a:off x="9320530" y="2221865"/>
            <a:ext cx="2613660" cy="3347085"/>
          </a:xfrm>
          <a:prstGeom prst="rect">
            <a:avLst/>
          </a:prstGeom>
        </p:spPr>
      </p:pic>
      <p:graphicFrame>
        <p:nvGraphicFramePr>
          <p:cNvPr id="36" name="表格 35"/>
          <p:cNvGraphicFramePr/>
          <p:nvPr>
            <p:custDataLst>
              <p:tags r:id="rId11"/>
            </p:custDataLst>
          </p:nvPr>
        </p:nvGraphicFramePr>
        <p:xfrm>
          <a:off x="9475470" y="5541645"/>
          <a:ext cx="2342515" cy="1228725"/>
        </p:xfrm>
        <a:graphic>
          <a:graphicData uri="http://schemas.openxmlformats.org/drawingml/2006/table">
            <a:tbl>
              <a:tblPr/>
              <a:tblGrid>
                <a:gridCol w="2342515"/>
              </a:tblGrid>
              <a:tr h="122872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12"/>
                        </a:rPr>
                        <a:t>https://us.shein.com/ROMWE-MEN-Street-Life-Men's-Autumn-Casual-Fashion-Street-Cross-Print-Contrast-Color-Zipper-Stand-Collar-Jacket-p-217520760.html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1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55245"/>
            <a:ext cx="8596630" cy="1572260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sym typeface="+mn-ea"/>
              </a:rPr>
              <a:t>男士休闲运动风衣、夹克</a:t>
            </a:r>
            <a:b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sym typeface="+mn-ea"/>
              </a:rPr>
            </a:b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保暖</a:t>
            </a:r>
            <a:r>
              <a:rPr lang="en-US" altLang="zh-CN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/</a:t>
            </a: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休闲</a:t>
            </a:r>
            <a:br>
              <a:rPr lang="en-US" altLang="zh-CN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endParaRPr lang="zh-CN" altLang="en-US" sz="5400" dirty="0">
              <a:solidFill>
                <a:schemeClr val="tx1"/>
              </a:solidFill>
              <a:highlight>
                <a:srgbClr val="FFFF00"/>
              </a:highligh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860796" y="4574469"/>
            <a:ext cx="304800" cy="30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表格 2"/>
          <p:cNvGraphicFramePr/>
          <p:nvPr/>
        </p:nvGraphicFramePr>
        <p:xfrm>
          <a:off x="5753100" y="3086100"/>
          <a:ext cx="685800" cy="685800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685800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4" name="图片 3"/>
          <p:cNvPicPr/>
          <p:nvPr/>
        </p:nvPicPr>
        <p:blipFill>
          <a:blip r:embed="rId1"/>
        </p:blipFill>
        <p:spPr>
          <a:xfrm>
            <a:off x="554990" y="2097405"/>
            <a:ext cx="3126105" cy="3300730"/>
          </a:xfrm>
          <a:prstGeom prst="rect">
            <a:avLst/>
          </a:prstGeom>
        </p:spPr>
      </p:pic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741680" y="5654675"/>
          <a:ext cx="2752090" cy="608965"/>
        </p:xfrm>
        <a:graphic>
          <a:graphicData uri="http://schemas.openxmlformats.org/drawingml/2006/table">
            <a:tbl>
              <a:tblPr/>
              <a:tblGrid>
                <a:gridCol w="2752090"/>
              </a:tblGrid>
              <a:tr h="60896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8000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3"/>
                        </a:rPr>
                        <a:t>https://www.aliexpress.com/item/1005010304567889.html</a:t>
                      </a:r>
                      <a:endParaRPr lang="en-US" altLang="zh-CN" sz="1100" b="0" i="0" u="sng">
                        <a:solidFill>
                          <a:srgbClr val="8000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3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5753100" y="3086100"/>
          <a:ext cx="685800" cy="685800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685800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图片 6"/>
          <p:cNvPicPr/>
          <p:nvPr/>
        </p:nvPicPr>
        <p:blipFill>
          <a:blip r:embed="rId4"/>
        </p:blipFill>
        <p:spPr>
          <a:xfrm>
            <a:off x="4173855" y="1932940"/>
            <a:ext cx="3330575" cy="3618230"/>
          </a:xfrm>
          <a:prstGeom prst="rect">
            <a:avLst/>
          </a:prstGeom>
        </p:spPr>
      </p:pic>
      <p:graphicFrame>
        <p:nvGraphicFramePr>
          <p:cNvPr id="8" name="表格 7"/>
          <p:cNvGraphicFramePr/>
          <p:nvPr>
            <p:custDataLst>
              <p:tags r:id="rId5"/>
            </p:custDataLst>
          </p:nvPr>
        </p:nvGraphicFramePr>
        <p:xfrm>
          <a:off x="4251325" y="5479415"/>
          <a:ext cx="3003550" cy="976630"/>
        </p:xfrm>
        <a:graphic>
          <a:graphicData uri="http://schemas.openxmlformats.org/drawingml/2006/table">
            <a:tbl>
              <a:tblPr/>
              <a:tblGrid>
                <a:gridCol w="3003550"/>
              </a:tblGrid>
              <a:tr h="976630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8000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6"/>
                        </a:rPr>
                        <a:t>https://www.coupang.com/vp/products/9065661162?itemId=26621475265&amp;vendorItemId=94481750027&amp;sourceType=CATEGORY&amp;categoryId=431683</a:t>
                      </a:r>
                      <a:endParaRPr lang="en-US" altLang="zh-CN" sz="1100" b="0" i="0" u="sng">
                        <a:solidFill>
                          <a:srgbClr val="8000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6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5753100" y="3086100"/>
          <a:ext cx="685800" cy="685800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685800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" name="图片 9"/>
          <p:cNvPicPr/>
          <p:nvPr/>
        </p:nvPicPr>
        <p:blipFill>
          <a:blip r:embed="rId7"/>
        </p:blipFill>
        <p:spPr>
          <a:xfrm>
            <a:off x="7910195" y="2097405"/>
            <a:ext cx="3215005" cy="3382010"/>
          </a:xfrm>
          <a:prstGeom prst="rect">
            <a:avLst/>
          </a:prstGeom>
        </p:spPr>
      </p:pic>
      <p:graphicFrame>
        <p:nvGraphicFramePr>
          <p:cNvPr id="12" name="表格 11"/>
          <p:cNvGraphicFramePr/>
          <p:nvPr>
            <p:custDataLst>
              <p:tags r:id="rId8"/>
            </p:custDataLst>
          </p:nvPr>
        </p:nvGraphicFramePr>
        <p:xfrm>
          <a:off x="8422640" y="5551805"/>
          <a:ext cx="2190115" cy="831215"/>
        </p:xfrm>
        <a:graphic>
          <a:graphicData uri="http://schemas.openxmlformats.org/drawingml/2006/table">
            <a:tbl>
              <a:tblPr/>
              <a:tblGrid>
                <a:gridCol w="2190115"/>
              </a:tblGrid>
              <a:tr h="83121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8000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9"/>
                        </a:rPr>
                        <a:t>https://www.aliexpress.com/item/1005007729603286.html</a:t>
                      </a:r>
                      <a:endParaRPr lang="en-US" altLang="zh-CN" sz="1100" b="0" i="0" u="sng">
                        <a:solidFill>
                          <a:srgbClr val="8000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9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55245"/>
            <a:ext cx="8596630" cy="1572260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sym typeface="+mn-ea"/>
              </a:rPr>
              <a:t>男士风衣</a:t>
            </a:r>
            <a:b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sym typeface="+mn-ea"/>
              </a:rPr>
            </a:b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长款</a:t>
            </a:r>
            <a:br>
              <a:rPr lang="en-US" altLang="zh-CN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endParaRPr lang="zh-CN" altLang="en-US" sz="5400" dirty="0">
              <a:solidFill>
                <a:schemeClr val="tx1"/>
              </a:solidFill>
              <a:highlight>
                <a:srgbClr val="FFFF00"/>
              </a:highligh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860796" y="4574469"/>
            <a:ext cx="304800" cy="30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" name="表格 12"/>
          <p:cNvGraphicFramePr/>
          <p:nvPr/>
        </p:nvGraphicFramePr>
        <p:xfrm>
          <a:off x="5753100" y="2977198"/>
          <a:ext cx="685800" cy="903605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903605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4" name="图片 13"/>
          <p:cNvPicPr/>
          <p:nvPr/>
        </p:nvPicPr>
        <p:blipFill>
          <a:blip r:embed="rId1"/>
        </p:blipFill>
        <p:spPr>
          <a:xfrm>
            <a:off x="485775" y="1833245"/>
            <a:ext cx="2867025" cy="3734435"/>
          </a:xfrm>
          <a:prstGeom prst="rect">
            <a:avLst/>
          </a:prstGeom>
        </p:spPr>
      </p:pic>
      <p:graphicFrame>
        <p:nvGraphicFramePr>
          <p:cNvPr id="15" name="表格 14"/>
          <p:cNvGraphicFramePr/>
          <p:nvPr>
            <p:custDataLst>
              <p:tags r:id="rId2"/>
            </p:custDataLst>
          </p:nvPr>
        </p:nvGraphicFramePr>
        <p:xfrm>
          <a:off x="112395" y="5657215"/>
          <a:ext cx="3613785" cy="1084580"/>
        </p:xfrm>
        <a:graphic>
          <a:graphicData uri="http://schemas.openxmlformats.org/drawingml/2006/table">
            <a:tbl>
              <a:tblPr/>
              <a:tblGrid>
                <a:gridCol w="3613785"/>
              </a:tblGrid>
              <a:tr h="1084580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3"/>
                        </a:rPr>
                        <a:t>https://us.shein.com/Manfinity-Bizformal-Men's-Double-Breasted-Casual-Jackets,-Fall-And-Winter,-Mix-And-Match-Autumn-Menswear,-Winter-Men's-Coats,-Warm-Coats-Elegantcasual-Cream-Outfit-Men-Beige-Men-Outfit-Manfinity-Streetrush-Young-Street-Style-For-Men-p-179345550.html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3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/>
          <p:nvPr/>
        </p:nvGraphicFramePr>
        <p:xfrm>
          <a:off x="5753100" y="2977198"/>
          <a:ext cx="685800" cy="903605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903605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7" name="图片 16"/>
          <p:cNvPicPr/>
          <p:nvPr/>
        </p:nvPicPr>
        <p:blipFill>
          <a:blip r:embed="rId4"/>
        </p:blipFill>
        <p:spPr>
          <a:xfrm>
            <a:off x="4406265" y="1833245"/>
            <a:ext cx="3264535" cy="3733800"/>
          </a:xfrm>
          <a:prstGeom prst="rect">
            <a:avLst/>
          </a:prstGeom>
        </p:spPr>
      </p:pic>
      <p:graphicFrame>
        <p:nvGraphicFramePr>
          <p:cNvPr id="19" name="表格 18"/>
          <p:cNvGraphicFramePr/>
          <p:nvPr>
            <p:custDataLst>
              <p:tags r:id="rId5"/>
            </p:custDataLst>
          </p:nvPr>
        </p:nvGraphicFramePr>
        <p:xfrm>
          <a:off x="4406265" y="5657215"/>
          <a:ext cx="3274060" cy="903605"/>
        </p:xfrm>
        <a:graphic>
          <a:graphicData uri="http://schemas.openxmlformats.org/drawingml/2006/table">
            <a:tbl>
              <a:tblPr/>
              <a:tblGrid>
                <a:gridCol w="3274060"/>
              </a:tblGrid>
              <a:tr h="90360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6"/>
                        </a:rPr>
                        <a:t>https://us.shein.com/Manfinity-Hypemode-Loose-Fit-Men's-Lapel-Collar-Dropping-Shoulder-Belted-Overcoat-p-11470441-cat-3137.html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6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表格 19"/>
          <p:cNvGraphicFramePr/>
          <p:nvPr/>
        </p:nvGraphicFramePr>
        <p:xfrm>
          <a:off x="5753100" y="3086100"/>
          <a:ext cx="685800" cy="685800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685800">
                <a:tc>
                  <a:txBody>
                    <a:bodyPr/>
                    <a:p/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1" name="图片 20"/>
          <p:cNvPicPr/>
          <p:nvPr/>
        </p:nvPicPr>
        <p:blipFill>
          <a:blip r:embed="rId7"/>
        </p:blipFill>
        <p:spPr>
          <a:xfrm>
            <a:off x="8155940" y="1833245"/>
            <a:ext cx="3545205" cy="3733800"/>
          </a:xfrm>
          <a:prstGeom prst="rect">
            <a:avLst/>
          </a:prstGeom>
        </p:spPr>
      </p:pic>
      <p:graphicFrame>
        <p:nvGraphicFramePr>
          <p:cNvPr id="22" name="表格 21"/>
          <p:cNvGraphicFramePr/>
          <p:nvPr>
            <p:custDataLst>
              <p:tags r:id="rId8"/>
            </p:custDataLst>
          </p:nvPr>
        </p:nvGraphicFramePr>
        <p:xfrm>
          <a:off x="8460105" y="5657215"/>
          <a:ext cx="2936240" cy="860425"/>
        </p:xfrm>
        <a:graphic>
          <a:graphicData uri="http://schemas.openxmlformats.org/drawingml/2006/table">
            <a:tbl>
              <a:tblPr/>
              <a:tblGrid>
                <a:gridCol w="2936240"/>
              </a:tblGrid>
              <a:tr h="86042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9"/>
                        </a:rPr>
                        <a:t>https://www.aliexpress.com/item/1005004455834645.html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9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268*184"/>
  <p:tag name="TABLE_ENDDRAG_RECT" val="238*234*268*184"/>
</p:tagLst>
</file>

<file path=ppt/tags/tag2.xml><?xml version="1.0" encoding="utf-8"?>
<p:tagLst xmlns:p="http://schemas.openxmlformats.org/presentationml/2006/main">
  <p:tag name="TABLE_ENDDRAG_ORIGIN_RECT" val="206*133"/>
  <p:tag name="TABLE_ENDDRAG_RECT" val="13*406*206*133"/>
</p:tagLst>
</file>

<file path=ppt/tags/tag3.xml><?xml version="1.0" encoding="utf-8"?>
<p:tagLst xmlns:p="http://schemas.openxmlformats.org/presentationml/2006/main">
  <p:tag name="TABLE_ENDDRAG_ORIGIN_RECT" val="216*113"/>
  <p:tag name="TABLE_ENDDRAG_RECT" val="231*413*216*113"/>
</p:tagLst>
</file>

<file path=ppt/tags/tag4.xml><?xml version="1.0" encoding="utf-8"?>
<p:tagLst xmlns:p="http://schemas.openxmlformats.org/presentationml/2006/main">
  <p:tag name="TABLE_ENDDRAG_ORIGIN_RECT" val="142*41"/>
  <p:tag name="TABLE_ENDDRAG_RECT" val="302*228*142*41"/>
</p:tagLst>
</file>

<file path=ppt/tags/tag5.xml><?xml version="1.0" encoding="utf-8"?>
<p:tagLst xmlns:p="http://schemas.openxmlformats.org/presentationml/2006/main">
  <p:tag name="TABLE_ENDDRAG_ORIGIN_RECT" val="150*40"/>
  <p:tag name="TABLE_ENDDRAG_RECT" val="302*229*150*40"/>
</p:tagLst>
</file>

<file path=ppt/tags/tag6.xml><?xml version="1.0" encoding="utf-8"?>
<p:tagLst xmlns:p="http://schemas.openxmlformats.org/presentationml/2006/main">
  <p:tag name="TABLE_ENDDRAG_ORIGIN_RECT" val="147*40"/>
  <p:tag name="TABLE_ENDDRAG_RECT" val="0*409*147*40"/>
</p:tagLst>
</file>

<file path=ppt/tags/tag7.xml><?xml version="1.0" encoding="utf-8"?>
<p:tagLst xmlns:p="http://schemas.openxmlformats.org/presentationml/2006/main">
  <p:tag name="TABLE_ENDDRAG_ORIGIN_RECT" val="141*17"/>
  <p:tag name="TABLE_ENDDRAG_RECT" val="175*451*141*17"/>
</p:tagLst>
</file>

<file path=ppt/tags/tag8.xml><?xml version="1.0" encoding="utf-8"?>
<p:tagLst xmlns:p="http://schemas.openxmlformats.org/presentationml/2006/main">
  <p:tag name="TABLE_ENDDRAG_ORIGIN_RECT" val="121*30"/>
  <p:tag name="TABLE_ENDDRAG_RECT" val="602*420*121*30"/>
</p:tagLst>
</file>

<file path=ppt/tags/tag9.xml><?xml version="1.0" encoding="utf-8"?>
<p:tagLst xmlns:p="http://schemas.openxmlformats.org/presentationml/2006/main">
  <p:tag name="TABLE_ENDDRAG_ORIGIN_RECT" val="158*18"/>
  <p:tag name="TABLE_ENDDRAG_RECT" val="384*423*159*18"/>
</p:tagLst>
</file>

<file path=ppt/tags/tag10.xml><?xml version="1.0" encoding="utf-8"?>
<p:tagLst xmlns:p="http://schemas.openxmlformats.org/presentationml/2006/main">
  <p:tag name="TABLE_ENDDRAG_ORIGIN_RECT" val="131*43"/>
  <p:tag name="TABLE_ENDDRAG_RECT" val="742*447*131*43"/>
</p:tagLst>
</file>

<file path=ppt/tags/tag11.xml><?xml version="1.0" encoding="utf-8"?>
<p:tagLst xmlns:p="http://schemas.openxmlformats.org/presentationml/2006/main">
  <p:tag name="TABLE_ENDDRAG_ORIGIN_RECT" val="198*41"/>
  <p:tag name="TABLE_ENDDRAG_RECT" val="21*504*198*41"/>
</p:tagLst>
</file>

<file path=ppt/tags/tag12.xml><?xml version="1.0" encoding="utf-8"?>
<p:tagLst xmlns:p="http://schemas.openxmlformats.org/presentationml/2006/main">
  <p:tag name="TABLE_ENDDRAG_ORIGIN_RECT" val="177*80"/>
  <p:tag name="TABLE_ENDDRAG_RECT" val="302*226*177*80"/>
</p:tagLst>
</file>

<file path=ppt/tags/tag13.xml><?xml version="1.0" encoding="utf-8"?>
<p:tagLst xmlns:p="http://schemas.openxmlformats.org/presentationml/2006/main">
  <p:tag name="TABLE_ENDDRAG_ORIGIN_RECT" val="208*88"/>
  <p:tag name="TABLE_ENDDRAG_RECT" val="706*415*208*88"/>
</p:tagLst>
</file>

<file path=ppt/tags/tag14.xml><?xml version="1.0" encoding="utf-8"?>
<p:tagLst xmlns:p="http://schemas.openxmlformats.org/presentationml/2006/main">
  <p:tag name="TABLE_ENDDRAG_ORIGIN_RECT" val="132*95"/>
  <p:tag name="TABLE_ENDDRAG_RECT" val="315*396*132*95"/>
</p:tagLst>
</file>

<file path=ppt/tags/tag15.xml><?xml version="1.0" encoding="utf-8"?>
<p:tagLst xmlns:p="http://schemas.openxmlformats.org/presentationml/2006/main">
  <p:tag name="TABLE_ENDDRAG_ORIGIN_RECT" val="145*89"/>
  <p:tag name="TABLE_ENDDRAG_RECT" val="479*384*145*89"/>
</p:tagLst>
</file>

<file path=ppt/tags/tag16.xml><?xml version="1.0" encoding="utf-8"?>
<p:tagLst xmlns:p="http://schemas.openxmlformats.org/presentationml/2006/main">
  <p:tag name="TABLE_ENDDRAG_ORIGIN_RECT" val="122*108"/>
  <p:tag name="TABLE_ENDDRAG_RECT" val="-17*384*122*108"/>
</p:tagLst>
</file>

<file path=ppt/tags/tag17.xml><?xml version="1.0" encoding="utf-8"?>
<p:tagLst xmlns:p="http://schemas.openxmlformats.org/presentationml/2006/main">
  <p:tag name="TABLE_ENDDRAG_ORIGIN_RECT" val="146*71"/>
  <p:tag name="TABLE_ENDDRAG_RECT" val="302*234*146*71"/>
</p:tagLst>
</file>

<file path=ppt/tags/tag18.xml><?xml version="1.0" encoding="utf-8"?>
<p:tagLst xmlns:p="http://schemas.openxmlformats.org/presentationml/2006/main">
  <p:tag name="TABLE_ENDDRAG_ORIGIN_RECT" val="127*131"/>
  <p:tag name="TABLE_ENDDRAG_RECT" val="639*384*127*131"/>
</p:tagLst>
</file>

<file path=ppt/tags/tag19.xml><?xml version="1.0" encoding="utf-8"?>
<p:tagLst xmlns:p="http://schemas.openxmlformats.org/presentationml/2006/main">
  <p:tag name="TABLE_ENDDRAG_ORIGIN_RECT" val="105*89"/>
  <p:tag name="TABLE_ENDDRAG_RECT" val="809*384*105*89"/>
</p:tagLst>
</file>

<file path=ppt/tags/tag20.xml><?xml version="1.0" encoding="utf-8"?>
<p:tagLst xmlns:p="http://schemas.openxmlformats.org/presentationml/2006/main">
  <p:tag name="TABLE_ENDDRAG_ORIGIN_RECT" val="146*100"/>
  <p:tag name="TABLE_ENDDRAG_RECT" val="39*433*146*100"/>
</p:tagLst>
</file>

<file path=ppt/tags/tag21.xml><?xml version="1.0" encoding="utf-8"?>
<p:tagLst xmlns:p="http://schemas.openxmlformats.org/presentationml/2006/main">
  <p:tag name="TABLE_ENDDRAG_ORIGIN_RECT" val="126*117"/>
  <p:tag name="TABLE_ENDDRAG_RECT" val="271*416*126*117"/>
</p:tagLst>
</file>

<file path=ppt/tags/tag22.xml><?xml version="1.0" encoding="utf-8"?>
<p:tagLst xmlns:p="http://schemas.openxmlformats.org/presentationml/2006/main">
  <p:tag name="TABLE_ENDDRAG_ORIGIN_RECT" val="162*129"/>
  <p:tag name="TABLE_ENDDRAG_RECT" val="446*410*162*129"/>
</p:tagLst>
</file>

<file path=ppt/tags/tag23.xml><?xml version="1.0" encoding="utf-8"?>
<p:tagLst xmlns:p="http://schemas.openxmlformats.org/presentationml/2006/main">
  <p:tag name="TABLE_ENDDRAG_ORIGIN_RECT" val="86*102"/>
  <p:tag name="TABLE_ENDDRAG_RECT" val="302*243*86*102"/>
</p:tagLst>
</file>

<file path=ppt/tags/tag24.xml><?xml version="1.0" encoding="utf-8"?>
<p:tagLst xmlns:p="http://schemas.openxmlformats.org/presentationml/2006/main">
  <p:tag name="TABLE_ENDDRAG_ORIGIN_RECT" val="127*114"/>
  <p:tag name="TABLE_ENDDRAG_RECT" val="302*234*127*114"/>
</p:tagLst>
</file>

<file path=ppt/tags/tag25.xml><?xml version="1.0" encoding="utf-8"?>
<p:tagLst xmlns:p="http://schemas.openxmlformats.org/presentationml/2006/main">
  <p:tag name="TABLE_ENDDRAG_ORIGIN_RECT" val="161*127"/>
  <p:tag name="TABLE_ENDDRAG_RECT" val="261*427*161*127"/>
</p:tagLst>
</file>

<file path=ppt/tags/tag26.xml><?xml version="1.0" encoding="utf-8"?>
<p:tagLst xmlns:p="http://schemas.openxmlformats.org/presentationml/2006/main">
  <p:tag name="TABLE_ENDDRAG_ORIGIN_RECT" val="139*107"/>
  <p:tag name="TABLE_ENDDRAG_RECT" val="302*234*139*107"/>
</p:tagLst>
</file>

<file path=ppt/tags/tag27.xml><?xml version="1.0" encoding="utf-8"?>
<p:tagLst xmlns:p="http://schemas.openxmlformats.org/presentationml/2006/main">
  <p:tag name="TABLE_ENDDRAG_ORIGIN_RECT" val="82*117"/>
  <p:tag name="TABLE_ENDDRAG_RECT" val="302*243*82*117"/>
</p:tagLst>
</file>

<file path=ppt/tags/tag28.xml><?xml version="1.0" encoding="utf-8"?>
<p:tagLst xmlns:p="http://schemas.openxmlformats.org/presentationml/2006/main">
  <p:tag name="TABLE_ENDDRAG_ORIGIN_RECT" val="199*85"/>
  <p:tag name="TABLE_ENDDRAG_RECT" val="48*454*199*85"/>
</p:tagLst>
</file>

<file path=ppt/tags/tag29.xml><?xml version="1.0" encoding="utf-8"?>
<p:tagLst xmlns:p="http://schemas.openxmlformats.org/presentationml/2006/main">
  <p:tag name="TABLE_ENDDRAG_ORIGIN_RECT" val="196*100"/>
  <p:tag name="TABLE_ENDDRAG_RECT" val="302*234*196*100"/>
</p:tagLst>
</file>

<file path=ppt/tags/tag30.xml><?xml version="1.0" encoding="utf-8"?>
<p:tagLst xmlns:p="http://schemas.openxmlformats.org/presentationml/2006/main">
  <p:tag name="TABLE_ENDDRAG_ORIGIN_RECT" val="167*94"/>
  <p:tag name="TABLE_ENDDRAG_RECT" val="302*234*167*94"/>
</p:tagLst>
</file>

<file path=ppt/tags/tag31.xml><?xml version="1.0" encoding="utf-8"?>
<p:tagLst xmlns:p="http://schemas.openxmlformats.org/presentationml/2006/main">
  <p:tag name="TABLE_ENDDRAG_ORIGIN_RECT" val="184*96"/>
  <p:tag name="TABLE_ENDDRAG_RECT" val="746*436*184*96"/>
</p:tagLst>
</file>

<file path=ppt/tags/tag32.xml><?xml version="1.0" encoding="utf-8"?>
<p:tagLst xmlns:p="http://schemas.openxmlformats.org/presentationml/2006/main">
  <p:tag name="TABLE_ENDDRAG_ORIGIN_RECT" val="216*47"/>
  <p:tag name="TABLE_ENDDRAG_RECT" val="7*445*216*47"/>
</p:tagLst>
</file>

<file path=ppt/tags/tag33.xml><?xml version="1.0" encoding="utf-8"?>
<p:tagLst xmlns:p="http://schemas.openxmlformats.org/presentationml/2006/main">
  <p:tag name="TABLE_ENDDRAG_ORIGIN_RECT" val="236*76"/>
  <p:tag name="TABLE_ENDDRAG_RECT" val="302*243*236*76"/>
</p:tagLst>
</file>

<file path=ppt/tags/tag34.xml><?xml version="1.0" encoding="utf-8"?>
<p:tagLst xmlns:p="http://schemas.openxmlformats.org/presentationml/2006/main">
  <p:tag name="TABLE_ENDDRAG_ORIGIN_RECT" val="172*65"/>
  <p:tag name="TABLE_ENDDRAG_RECT" val="302*243*172*65"/>
</p:tagLst>
</file>

<file path=ppt/tags/tag35.xml><?xml version="1.0" encoding="utf-8"?>
<p:tagLst xmlns:p="http://schemas.openxmlformats.org/presentationml/2006/main">
  <p:tag name="TABLE_ENDDRAG_ORIGIN_RECT" val="284*85"/>
  <p:tag name="TABLE_ENDDRAG_RECT" val="66*454*284*85"/>
</p:tagLst>
</file>

<file path=ppt/tags/tag36.xml><?xml version="1.0" encoding="utf-8"?>
<p:tagLst xmlns:p="http://schemas.openxmlformats.org/presentationml/2006/main">
  <p:tag name="TABLE_ENDDRAG_ORIGIN_RECT" val="257*71"/>
  <p:tag name="TABLE_ENDDRAG_RECT" val="302*234*257*71"/>
</p:tagLst>
</file>

<file path=ppt/tags/tag37.xml><?xml version="1.0" encoding="utf-8"?>
<p:tagLst xmlns:p="http://schemas.openxmlformats.org/presentationml/2006/main">
  <p:tag name="TABLE_ENDDRAG_ORIGIN_RECT" val="231*67"/>
  <p:tag name="TABLE_ENDDRAG_RECT" val="302*243*231*67"/>
</p:tagLst>
</file>

<file path=ppt/theme/theme1.xml><?xml version="1.0" encoding="utf-8"?>
<a:theme xmlns:a="http://schemas.openxmlformats.org/drawingml/2006/main" name="平面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平面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4579</Words>
  <Application>WPS 演示</Application>
  <PresentationFormat>宽屏</PresentationFormat>
  <Paragraphs>100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Wingdings 3</vt:lpstr>
      <vt:lpstr>Arial</vt:lpstr>
      <vt:lpstr>华文宋体</vt:lpstr>
      <vt:lpstr>Trebuchet MS</vt:lpstr>
      <vt:lpstr>方正姚体</vt:lpstr>
      <vt:lpstr>微软雅黑</vt:lpstr>
      <vt:lpstr>Arial Unicode MS</vt:lpstr>
      <vt:lpstr>华文新魏</vt:lpstr>
      <vt:lpstr>Calibri</vt:lpstr>
      <vt:lpstr>平面</vt:lpstr>
      <vt:lpstr>8月BSR开款（二） 以下款式有BSR标签 买手绑定后 可享搜推提权——额外流量  男装单马甲 男士休闲运动风衣、夹克 男士风衣</vt:lpstr>
      <vt:lpstr>PowerPoint 演示文稿</vt:lpstr>
      <vt:lpstr>上款路径指引</vt:lpstr>
      <vt:lpstr>男士单马甲 日常搭配</vt:lpstr>
      <vt:lpstr>男士单马甲 功能性</vt:lpstr>
      <vt:lpstr>男士单马甲 日常搭配</vt:lpstr>
      <vt:lpstr>男士单马甲 日常搭配</vt:lpstr>
      <vt:lpstr>男士单马甲 日常搭配</vt:lpstr>
      <vt:lpstr>男士休闲运动风衣、夹克 素色</vt:lpstr>
      <vt:lpstr>男士风衣 长款 </vt:lpstr>
      <vt:lpstr>男士休闲运动风衣、夹克 街头风格</vt:lpstr>
      <vt:lpstr>男士休闲运动风衣、夹克 保暖/休闲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游无垠</dc:creator>
  <cp:lastModifiedBy>youwuyin</cp:lastModifiedBy>
  <cp:revision>11</cp:revision>
  <dcterms:created xsi:type="dcterms:W3CDTF">2026-08-21T06:00:00Z</dcterms:created>
  <dcterms:modified xsi:type="dcterms:W3CDTF">2026-08-30T09:52:00Z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BC53DB27820046869F401BA10DF19EB7_12</vt:lpwstr>
  </property>
  <property fmtid="{D5CDD505-2E9C-101B-9397-08002B2CF9AE}" pid="3" name="KSOProductBuildVer">
    <vt:lpwstr>2052-12.8.2.17838</vt:lpwstr>
  </property>
</Properties>
</file>